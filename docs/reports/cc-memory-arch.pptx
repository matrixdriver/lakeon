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30352"/>
          </a:xfrm>
          <a:prstGeom prst="rect">
            <a:avLst/>
          </a:prstGeom>
          <a:solidFill>
            <a:srgbClr val="1A3A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91440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Claude Code 记忆架构全景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109728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0C4D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Markdown 文件 + Auto-Memory + Auto-Dream + MCP 扩展 + PostCompact 恢复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28600" y="621792"/>
            <a:ext cx="3931920" cy="2926080"/>
          </a:xfrm>
          <a:prstGeom prst="roundRect">
            <a:avLst>
              <a:gd name="adj" fmla="val 2500"/>
            </a:avLst>
          </a:prstGeom>
          <a:solidFill>
            <a:srgbClr val="FAFBFD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621792"/>
            <a:ext cx="54864" cy="2926080"/>
          </a:xfrm>
          <a:prstGeom prst="rect">
            <a:avLst/>
          </a:prstGeom>
          <a:solidFill>
            <a:srgbClr val="1565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58368"/>
            <a:ext cx="36576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565C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📁 文件存储层（Markdown-First）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950976"/>
            <a:ext cx="3657600" cy="475488"/>
          </a:xfrm>
          <a:prstGeom prst="roundRect">
            <a:avLst>
              <a:gd name="adj" fmla="val 11538"/>
            </a:avLst>
          </a:prstGeom>
          <a:solidFill>
            <a:srgbClr val="E3F0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969264"/>
            <a:ext cx="32004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565C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CLAUDE.md（项目根目录）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188720"/>
            <a:ext cx="34747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Git 追踪 · 项目指令 · 最高优先级 · 人工维护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1481328"/>
            <a:ext cx="3657600" cy="804672"/>
          </a:xfrm>
          <a:prstGeom prst="roundRect">
            <a:avLst>
              <a:gd name="adj" fmla="val 6818"/>
            </a:avLst>
          </a:prstGeom>
          <a:solidFill>
            <a:srgbClr val="E8F6F3"/>
          </a:solidFill>
          <a:ln w="12700">
            <a:solidFill>
              <a:srgbClr val="0D7C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499616"/>
            <a:ext cx="34747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7C6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~/.claude/projects/[project]/memory/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1719072"/>
            <a:ext cx="34747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MEMORY.md — 索引文件（上限 200 行，超出静默截断）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1901952"/>
            <a:ext cx="34747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*.md — 独立记忆文件（YAML frontmatter + Markdown）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2084832"/>
            <a:ext cx="34747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4 种类型：user / feedback / project / reference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2340864"/>
            <a:ext cx="3657600" cy="475488"/>
          </a:xfrm>
          <a:prstGeom prst="roundRect">
            <a:avLst>
              <a:gd name="adj" fmla="val 11538"/>
            </a:avLst>
          </a:prstGeom>
          <a:solidFill>
            <a:srgbClr val="FEF3E8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359152"/>
            <a:ext cx="32004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4530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Session JSONL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2578608"/>
            <a:ext cx="34747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每次交互自动追加 · 恢复中断会话 · 受 /compact 压缩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389120" y="621792"/>
            <a:ext cx="4206240" cy="2926080"/>
          </a:xfrm>
          <a:prstGeom prst="roundRect">
            <a:avLst>
              <a:gd name="adj" fmla="val 2500"/>
            </a:avLst>
          </a:prstGeom>
          <a:solidFill>
            <a:srgbClr val="FAFBFD"/>
          </a:solidFill>
          <a:ln w="19050">
            <a:solidFill>
              <a:srgbClr val="6B3FA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89120" y="621792"/>
            <a:ext cx="54864" cy="2926080"/>
          </a:xfrm>
          <a:prstGeom prst="rect">
            <a:avLst/>
          </a:prstGeom>
          <a:solidFill>
            <a:srgbClr val="6B3F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26280" y="658368"/>
            <a:ext cx="36576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B3FA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🔄 会话生命周期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26280" y="950976"/>
            <a:ext cx="3931920" cy="658368"/>
          </a:xfrm>
          <a:prstGeom prst="roundRect">
            <a:avLst>
              <a:gd name="adj" fmla="val 8333"/>
            </a:avLst>
          </a:prstGeom>
          <a:solidFill>
            <a:srgbClr val="F3EDF9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90288" y="987552"/>
            <a:ext cx="182880" cy="182880"/>
          </a:xfrm>
          <a:prstGeom prst="ellipse">
            <a:avLst/>
          </a:prstGeom>
          <a:solidFill>
            <a:srgbClr val="6B3FA0"/>
          </a:solidFill>
        </p:spPr>
      </p:sp>
      <p:sp>
        <p:nvSpPr>
          <p:cNvPr id="24" name="Text 22"/>
          <p:cNvSpPr/>
          <p:nvPr/>
        </p:nvSpPr>
        <p:spPr>
          <a:xfrm>
            <a:off x="4590288" y="987552"/>
            <a:ext cx="1828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28032" y="987552"/>
            <a:ext cx="32004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B3FA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会话启动 — 全量注入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617720" y="1207008"/>
            <a:ext cx="37490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加载 CLAUDE.md + MEMORY.md(前200行) + memory/*.md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617720" y="1389888"/>
            <a:ext cx="37490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全部注入 System Prompt · 无语义检索 · 无过滤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492240" y="1609344"/>
            <a:ext cx="914" cy="109728"/>
          </a:xfrm>
          <a:prstGeom prst="line">
            <a:avLst/>
          </a:prstGeom>
          <a:noFill/>
          <a:ln w="19050">
            <a:solidFill>
              <a:srgbClr val="6B3FA0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4526280" y="1737360"/>
            <a:ext cx="3931920" cy="475488"/>
          </a:xfrm>
          <a:prstGeom prst="roundRect">
            <a:avLst>
              <a:gd name="adj" fmla="val 11538"/>
            </a:avLst>
          </a:prstGeom>
          <a:solidFill>
            <a:srgbClr val="E3F0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90288" y="1773936"/>
            <a:ext cx="182880" cy="182880"/>
          </a:xfrm>
          <a:prstGeom prst="ellipse">
            <a:avLst/>
          </a:prstGeom>
          <a:solidFill>
            <a:srgbClr val="1565C0"/>
          </a:solidFill>
        </p:spPr>
      </p:sp>
      <p:sp>
        <p:nvSpPr>
          <p:cNvPr id="31" name="Text 29"/>
          <p:cNvSpPr/>
          <p:nvPr/>
        </p:nvSpPr>
        <p:spPr>
          <a:xfrm>
            <a:off x="4590288" y="1773936"/>
            <a:ext cx="1828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2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28032" y="1773936"/>
            <a:ext cx="32004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565C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会话中 — Auto-Memory 异步捕获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617720" y="1993392"/>
            <a:ext cx="37490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检测到可记忆信息 → 异步写入 memory/*.md → 更新 MEMORY.md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492240" y="2212848"/>
            <a:ext cx="914" cy="109728"/>
          </a:xfrm>
          <a:prstGeom prst="line">
            <a:avLst/>
          </a:prstGeom>
          <a:noFill/>
          <a:ln w="19050">
            <a:solidFill>
              <a:srgbClr val="1565C0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4526280" y="2340864"/>
            <a:ext cx="3931920" cy="475488"/>
          </a:xfrm>
          <a:prstGeom prst="roundRect">
            <a:avLst>
              <a:gd name="adj" fmla="val 11538"/>
            </a:avLst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90288" y="2377440"/>
            <a:ext cx="182880" cy="182880"/>
          </a:xfrm>
          <a:prstGeom prst="ellipse">
            <a:avLst/>
          </a:prstGeom>
          <a:solidFill>
            <a:srgbClr val="C0392B"/>
          </a:solidFill>
        </p:spPr>
      </p:sp>
      <p:sp>
        <p:nvSpPr>
          <p:cNvPr id="37" name="Text 35"/>
          <p:cNvSpPr/>
          <p:nvPr/>
        </p:nvSpPr>
        <p:spPr>
          <a:xfrm>
            <a:off x="4590288" y="2377440"/>
            <a:ext cx="1828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3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28032" y="2377440"/>
            <a:ext cx="32004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0392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/compact — 上下文压缩（⚠️ 信息丢失）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617720" y="2596896"/>
            <a:ext cx="37490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早期对话不可逆丢弃 · PostCompact Hook 可恢复关键记忆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492240" y="2816352"/>
            <a:ext cx="914" cy="109728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4526280" y="2944368"/>
            <a:ext cx="3931920" cy="475488"/>
          </a:xfrm>
          <a:prstGeom prst="roundRect">
            <a:avLst>
              <a:gd name="adj" fmla="val 11538"/>
            </a:avLst>
          </a:prstGeom>
          <a:solidFill>
            <a:srgbClr val="E0F2F1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590288" y="2980944"/>
            <a:ext cx="182880" cy="182880"/>
          </a:xfrm>
          <a:prstGeom prst="ellipse">
            <a:avLst/>
          </a:prstGeom>
          <a:solidFill>
            <a:srgbClr val="00796B"/>
          </a:solidFill>
        </p:spPr>
      </p:sp>
      <p:sp>
        <p:nvSpPr>
          <p:cNvPr id="43" name="Text 41"/>
          <p:cNvSpPr/>
          <p:nvPr/>
        </p:nvSpPr>
        <p:spPr>
          <a:xfrm>
            <a:off x="4590288" y="2980944"/>
            <a:ext cx="1828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4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828032" y="2980944"/>
            <a:ext cx="32004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796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会话结束 — Auto-Dream 记忆整理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617720" y="3200400"/>
            <a:ext cx="37490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异步反思会话内容 · 提炼关键记忆 · 整理/合并/去重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8823960" y="621792"/>
            <a:ext cx="3154680" cy="2926080"/>
          </a:xfrm>
          <a:prstGeom prst="roundRect">
            <a:avLst>
              <a:gd name="adj" fmla="val 2500"/>
            </a:avLst>
          </a:prstGeom>
          <a:solidFill>
            <a:srgbClr val="FAFBFD"/>
          </a:solidFill>
          <a:ln w="19050">
            <a:solidFill>
              <a:srgbClr val="00796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823960" y="621792"/>
            <a:ext cx="54864" cy="2926080"/>
          </a:xfrm>
          <a:prstGeom prst="rect">
            <a:avLst/>
          </a:prstGeom>
          <a:solidFill>
            <a:srgbClr val="0079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961120" y="658368"/>
            <a:ext cx="27432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796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🔌 MCP 扩展层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8961120" y="877824"/>
            <a:ext cx="29260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第三方记忆服务通过 MCP 协议接入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8933688" y="1097280"/>
            <a:ext cx="292608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933688" y="1097280"/>
            <a:ext cx="36576" cy="402336"/>
          </a:xfrm>
          <a:prstGeom prst="rect">
            <a:avLst/>
          </a:prstGeom>
          <a:solidFill>
            <a:srgbClr val="1565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025128" y="1115568"/>
            <a:ext cx="27432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565C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ZhiXing Memory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9025128" y="1298448"/>
            <a:ext cx="274320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Trait 反思 + Q-value + 知识图谱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8933688" y="1536192"/>
            <a:ext cx="292608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933688" y="1536192"/>
            <a:ext cx="36576" cy="402336"/>
          </a:xfrm>
          <a:prstGeom prst="rect">
            <a:avLst/>
          </a:prstGeom>
          <a:solidFill>
            <a:srgbClr val="6B3F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025128" y="1554480"/>
            <a:ext cx="27432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B3FA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Anthropic KG Memory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9025128" y="1737360"/>
            <a:ext cx="274320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官方实体-关系存储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8933688" y="1975104"/>
            <a:ext cx="292608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933688" y="1975104"/>
            <a:ext cx="36576" cy="402336"/>
          </a:xfrm>
          <a:prstGeom prst="rect">
            <a:avLst/>
          </a:prstGeom>
          <a:solidFill>
            <a:srgbClr val="B4530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025128" y="1993392"/>
            <a:ext cx="27432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B4530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Mem0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9025128" y="2176272"/>
            <a:ext cx="274320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向量 + KV + 可选图谱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8933688" y="2414016"/>
            <a:ext cx="292608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0D7C6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933688" y="2414016"/>
            <a:ext cx="36576" cy="402336"/>
          </a:xfrm>
          <a:prstGeom prst="rect">
            <a:avLst/>
          </a:prstGeom>
          <a:solidFill>
            <a:srgbClr val="0D7C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025128" y="2432304"/>
            <a:ext cx="27432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7C6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MemCP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9025128" y="2615184"/>
            <a:ext cx="274320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SQLite 递归记忆研究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8933688" y="2852928"/>
            <a:ext cx="292608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933688" y="2852928"/>
            <a:ext cx="36576" cy="402336"/>
          </a:xfrm>
          <a:prstGeom prst="rect">
            <a:avLst/>
          </a:prstGeom>
          <a:solidFill>
            <a:srgbClr val="C039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9025128" y="2871216"/>
            <a:ext cx="27432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0392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memory-graph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9025128" y="3054096"/>
            <a:ext cx="274320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Neo4j 关系记忆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228600" y="3703320"/>
            <a:ext cx="5669280" cy="2377440"/>
          </a:xfrm>
          <a:prstGeom prst="roundRect">
            <a:avLst>
              <a:gd name="adj" fmla="val 3077"/>
            </a:avLst>
          </a:prstGeom>
          <a:solidFill>
            <a:srgbClr val="FAFBFD"/>
          </a:solidFill>
          <a:ln w="12700">
            <a:solidFill>
              <a:srgbClr val="DEE5ED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65760" y="3739896"/>
            <a:ext cx="45720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A5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Auto-Memory 与 Auto-Dream 机制</a:t>
            </a:r>
            <a:endParaRPr lang="en-US" sz="1300" dirty="0"/>
          </a:p>
        </p:txBody>
      </p:sp>
      <p:sp>
        <p:nvSpPr>
          <p:cNvPr id="72" name="Shape 70"/>
          <p:cNvSpPr/>
          <p:nvPr/>
        </p:nvSpPr>
        <p:spPr>
          <a:xfrm>
            <a:off x="338328" y="4032504"/>
            <a:ext cx="2651760" cy="1920240"/>
          </a:xfrm>
          <a:prstGeom prst="roundRect">
            <a:avLst>
              <a:gd name="adj" fmla="val 2857"/>
            </a:avLst>
          </a:prstGeom>
          <a:solidFill>
            <a:srgbClr val="E3F0FF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338328" y="4032504"/>
            <a:ext cx="45720" cy="1920240"/>
          </a:xfrm>
          <a:prstGeom prst="rect">
            <a:avLst/>
          </a:prstGeom>
          <a:solidFill>
            <a:srgbClr val="1565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48056" y="4069080"/>
            <a:ext cx="23774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565C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Auto-Memory（v2.1.59+）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448056" y="4306824"/>
            <a:ext cx="237744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触发：会话中实时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448056" y="4507992"/>
            <a:ext cx="23774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对话中检测可记忆信息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448056" y="4690872"/>
            <a:ext cx="23774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异步写入 memory/*.md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448056" y="4873752"/>
            <a:ext cx="23774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YAML frontmatter 分类标注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448056" y="5056632"/>
            <a:ext cx="23774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更新 MEMORY.md 索引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448056" y="5239512"/>
            <a:ext cx="23774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不阻塞用户交互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448056" y="5477256"/>
            <a:ext cx="23774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0392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局限：</a:t>
            </a:r>
            <a:r>
              <a:rPr lang="en-US" sz="900" dirty="0">
                <a:solidFill>
                  <a:srgbClr val="C0392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启发式捕获，可能遗漏重要决策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448056" y="5660136"/>
            <a:ext cx="23774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0392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局限：</a:t>
            </a:r>
            <a:r>
              <a:rPr lang="en-US" sz="900" dirty="0">
                <a:solidFill>
                  <a:srgbClr val="C0392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MEMORY.md 200 行上限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3127248" y="4032504"/>
            <a:ext cx="2651760" cy="1920240"/>
          </a:xfrm>
          <a:prstGeom prst="roundRect">
            <a:avLst>
              <a:gd name="adj" fmla="val 2857"/>
            </a:avLst>
          </a:prstGeom>
          <a:solidFill>
            <a:srgbClr val="E0F2F1"/>
          </a:solidFill>
          <a:ln w="19050">
            <a:solidFill>
              <a:srgbClr val="00796B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3127248" y="4032504"/>
            <a:ext cx="45720" cy="1920240"/>
          </a:xfrm>
          <a:prstGeom prst="rect">
            <a:avLst/>
          </a:prstGeom>
          <a:solidFill>
            <a:srgbClr val="0079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3236976" y="4069080"/>
            <a:ext cx="23774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796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Auto-Dream（Sleep-time）</a:t>
            </a:r>
            <a:endParaRPr lang="en-US" sz="1100" dirty="0"/>
          </a:p>
        </p:txBody>
      </p:sp>
      <p:sp>
        <p:nvSpPr>
          <p:cNvPr id="86" name="Text 84"/>
          <p:cNvSpPr/>
          <p:nvPr/>
        </p:nvSpPr>
        <p:spPr>
          <a:xfrm>
            <a:off x="3236976" y="4306824"/>
            <a:ext cx="237744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触发：会话结束后异步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3236976" y="4507992"/>
            <a:ext cx="23774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回顾整个会话内容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3236976" y="4690872"/>
            <a:ext cx="23774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提炼关键决策和模式</a:t>
            </a:r>
            <a:endParaRPr lang="en-US" sz="900" dirty="0"/>
          </a:p>
        </p:txBody>
      </p:sp>
      <p:sp>
        <p:nvSpPr>
          <p:cNvPr id="89" name="Text 87"/>
          <p:cNvSpPr/>
          <p:nvPr/>
        </p:nvSpPr>
        <p:spPr>
          <a:xfrm>
            <a:off x="3236976" y="4873752"/>
            <a:ext cx="23774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合并冗余记忆条目</a:t>
            </a:r>
            <a:endParaRPr lang="en-US" sz="900" dirty="0"/>
          </a:p>
        </p:txBody>
      </p:sp>
      <p:sp>
        <p:nvSpPr>
          <p:cNvPr id="90" name="Text 88"/>
          <p:cNvSpPr/>
          <p:nvPr/>
        </p:nvSpPr>
        <p:spPr>
          <a:xfrm>
            <a:off x="3236976" y="5056632"/>
            <a:ext cx="23774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整理 MEMORY.md 索引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3236976" y="5239512"/>
            <a:ext cx="23774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生成会话摘要存储</a:t>
            </a:r>
            <a:endParaRPr lang="en-US" sz="900" dirty="0"/>
          </a:p>
        </p:txBody>
      </p:sp>
      <p:sp>
        <p:nvSpPr>
          <p:cNvPr id="92" name="Text 90"/>
          <p:cNvSpPr/>
          <p:nvPr/>
        </p:nvSpPr>
        <p:spPr>
          <a:xfrm>
            <a:off x="3236976" y="5477256"/>
            <a:ext cx="23774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796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类比：</a:t>
            </a:r>
            <a:r>
              <a:rPr lang="en-US" sz="900" dirty="0">
                <a:solidFill>
                  <a:srgbClr val="00796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人类睡眠时的记忆巩固过程</a:t>
            </a:r>
            <a:endParaRPr lang="en-US" sz="900" dirty="0"/>
          </a:p>
        </p:txBody>
      </p:sp>
      <p:sp>
        <p:nvSpPr>
          <p:cNvPr id="93" name="Text 91"/>
          <p:cNvSpPr/>
          <p:nvPr/>
        </p:nvSpPr>
        <p:spPr>
          <a:xfrm>
            <a:off x="3236976" y="5660136"/>
            <a:ext cx="23774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796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价值：</a:t>
            </a:r>
            <a:r>
              <a:rPr lang="en-US" sz="900" dirty="0">
                <a:solidFill>
                  <a:srgbClr val="00796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弥补实时捕获的遗漏，做全局整理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1664208" y="3904488"/>
            <a:ext cx="914" cy="128016"/>
          </a:xfrm>
          <a:prstGeom prst="line">
            <a:avLst/>
          </a:prstGeom>
          <a:noFill/>
          <a:ln w="19050">
            <a:solidFill>
              <a:srgbClr val="1565C0"/>
            </a:solidFill>
            <a:prstDash val="solid"/>
            <a:tailEnd type="triangle"/>
          </a:ln>
        </p:spPr>
      </p:sp>
      <p:sp>
        <p:nvSpPr>
          <p:cNvPr id="95" name="Shape 93"/>
          <p:cNvSpPr/>
          <p:nvPr/>
        </p:nvSpPr>
        <p:spPr>
          <a:xfrm>
            <a:off x="4453128" y="3904488"/>
            <a:ext cx="914" cy="128016"/>
          </a:xfrm>
          <a:prstGeom prst="line">
            <a:avLst/>
          </a:prstGeom>
          <a:noFill/>
          <a:ln w="19050">
            <a:solidFill>
              <a:srgbClr val="00796B"/>
            </a:solidFill>
            <a:prstDash val="solid"/>
            <a:tailEnd type="triangle"/>
          </a:ln>
        </p:spPr>
      </p:sp>
      <p:sp>
        <p:nvSpPr>
          <p:cNvPr id="96" name="Shape 94"/>
          <p:cNvSpPr/>
          <p:nvPr/>
        </p:nvSpPr>
        <p:spPr>
          <a:xfrm>
            <a:off x="6126480" y="3703320"/>
            <a:ext cx="5852160" cy="2377440"/>
          </a:xfrm>
          <a:prstGeom prst="roundRect">
            <a:avLst>
              <a:gd name="adj" fmla="val 3077"/>
            </a:avLst>
          </a:prstGeom>
          <a:solidFill>
            <a:srgbClr val="FAFBFD"/>
          </a:solidFill>
          <a:ln w="12700">
            <a:solidFill>
              <a:srgbClr val="DEE5ED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6263640" y="3739896"/>
            <a:ext cx="45720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A5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架构痛点与 增强机会</a:t>
            </a:r>
            <a:endParaRPr lang="en-US" sz="1300" dirty="0"/>
          </a:p>
        </p:txBody>
      </p:sp>
      <p:sp>
        <p:nvSpPr>
          <p:cNvPr id="98" name="Shape 96"/>
          <p:cNvSpPr/>
          <p:nvPr/>
        </p:nvSpPr>
        <p:spPr>
          <a:xfrm>
            <a:off x="6236208" y="4032504"/>
            <a:ext cx="2743200" cy="1920240"/>
          </a:xfrm>
          <a:prstGeom prst="roundRect">
            <a:avLst>
              <a:gd name="adj" fmla="val 2857"/>
            </a:avLst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6236208" y="4032504"/>
            <a:ext cx="45720" cy="1920240"/>
          </a:xfrm>
          <a:prstGeom prst="rect">
            <a:avLst/>
          </a:prstGeom>
          <a:solidFill>
            <a:srgbClr val="C039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6345936" y="4069080"/>
            <a:ext cx="24688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0392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❌ 现有痛点</a:t>
            </a:r>
            <a:endParaRPr lang="en-US" sz="1100" dirty="0"/>
          </a:p>
        </p:txBody>
      </p:sp>
      <p:sp>
        <p:nvSpPr>
          <p:cNvPr id="101" name="Text 99"/>
          <p:cNvSpPr/>
          <p:nvPr/>
        </p:nvSpPr>
        <p:spPr>
          <a:xfrm>
            <a:off x="6345936" y="4306824"/>
            <a:ext cx="24688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MEMORY.md 200 行硬上限</a:t>
            </a:r>
            <a:endParaRPr lang="en-US" sz="950" dirty="0"/>
          </a:p>
        </p:txBody>
      </p:sp>
      <p:sp>
        <p:nvSpPr>
          <p:cNvPr id="102" name="Text 100"/>
          <p:cNvSpPr/>
          <p:nvPr/>
        </p:nvSpPr>
        <p:spPr>
          <a:xfrm>
            <a:off x="6345936" y="4507992"/>
            <a:ext cx="24688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无语义检索，全量注入</a:t>
            </a:r>
            <a:endParaRPr lang="en-US" sz="950" dirty="0"/>
          </a:p>
        </p:txBody>
      </p:sp>
      <p:sp>
        <p:nvSpPr>
          <p:cNvPr id="103" name="Text 101"/>
          <p:cNvSpPr/>
          <p:nvPr/>
        </p:nvSpPr>
        <p:spPr>
          <a:xfrm>
            <a:off x="6345936" y="4709160"/>
            <a:ext cx="24688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/compact 导致不可逆信息丢失</a:t>
            </a:r>
            <a:endParaRPr lang="en-US" sz="950" dirty="0"/>
          </a:p>
        </p:txBody>
      </p:sp>
      <p:sp>
        <p:nvSpPr>
          <p:cNvPr id="104" name="Text 102"/>
          <p:cNvSpPr/>
          <p:nvPr/>
        </p:nvSpPr>
        <p:spPr>
          <a:xfrm>
            <a:off x="6345936" y="4910328"/>
            <a:ext cx="24688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无跨项目开发者画像</a:t>
            </a:r>
            <a:endParaRPr lang="en-US" sz="950" dirty="0"/>
          </a:p>
        </p:txBody>
      </p:sp>
      <p:sp>
        <p:nvSpPr>
          <p:cNvPr id="105" name="Text 103"/>
          <p:cNvSpPr/>
          <p:nvPr/>
        </p:nvSpPr>
        <p:spPr>
          <a:xfrm>
            <a:off x="6345936" y="5111496"/>
            <a:ext cx="24688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无 Trait 反思（行为模式发现）</a:t>
            </a:r>
            <a:endParaRPr lang="en-US" sz="950" dirty="0"/>
          </a:p>
        </p:txBody>
      </p:sp>
      <p:sp>
        <p:nvSpPr>
          <p:cNvPr id="106" name="Text 104"/>
          <p:cNvSpPr/>
          <p:nvPr/>
        </p:nvSpPr>
        <p:spPr>
          <a:xfrm>
            <a:off x="6345936" y="5312664"/>
            <a:ext cx="24688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无 Q-value（记忆效用评估）</a:t>
            </a:r>
            <a:endParaRPr lang="en-US" sz="950" dirty="0"/>
          </a:p>
        </p:txBody>
      </p:sp>
      <p:sp>
        <p:nvSpPr>
          <p:cNvPr id="107" name="Text 105"/>
          <p:cNvSpPr/>
          <p:nvPr/>
        </p:nvSpPr>
        <p:spPr>
          <a:xfrm>
            <a:off x="6345936" y="5513832"/>
            <a:ext cx="24688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子 Agent 记忆不共享</a:t>
            </a:r>
            <a:endParaRPr lang="en-US" sz="950" dirty="0"/>
          </a:p>
        </p:txBody>
      </p:sp>
      <p:sp>
        <p:nvSpPr>
          <p:cNvPr id="108" name="Shape 106"/>
          <p:cNvSpPr/>
          <p:nvPr/>
        </p:nvSpPr>
        <p:spPr>
          <a:xfrm>
            <a:off x="9116568" y="4032504"/>
            <a:ext cx="2743200" cy="1920240"/>
          </a:xfrm>
          <a:prstGeom prst="roundRect">
            <a:avLst>
              <a:gd name="adj" fmla="val 2857"/>
            </a:avLst>
          </a:prstGeom>
          <a:solidFill>
            <a:srgbClr val="E8F6F3"/>
          </a:solidFill>
          <a:ln w="12700">
            <a:solidFill>
              <a:srgbClr val="0D7C66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9116568" y="4032504"/>
            <a:ext cx="45720" cy="1920240"/>
          </a:xfrm>
          <a:prstGeom prst="rect">
            <a:avLst/>
          </a:prstGeom>
          <a:solidFill>
            <a:srgbClr val="0D7C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9226296" y="4069080"/>
            <a:ext cx="24688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7C6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✅  </a:t>
            </a:r>
            <a:r>
              <a:rPr lang="zh-CN" altLang="en-US" sz="1100" b="1" dirty="0">
                <a:solidFill>
                  <a:srgbClr val="0D7C6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自研记忆库</a:t>
            </a:r>
            <a:r>
              <a:rPr lang="en-US" sz="1100" b="1" dirty="0">
                <a:solidFill>
                  <a:srgbClr val="0D7C6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增强</a:t>
            </a:r>
            <a:endParaRPr lang="en-US" sz="1100" dirty="0"/>
          </a:p>
        </p:txBody>
      </p:sp>
      <p:sp>
        <p:nvSpPr>
          <p:cNvPr id="111" name="Text 109"/>
          <p:cNvSpPr/>
          <p:nvPr/>
        </p:nvSpPr>
        <p:spPr>
          <a:xfrm>
            <a:off x="9226296" y="4306824"/>
            <a:ext cx="24688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pgvector 无上限存储</a:t>
            </a:r>
            <a:endParaRPr lang="en-US" sz="950" dirty="0"/>
          </a:p>
        </p:txBody>
      </p:sp>
      <p:sp>
        <p:nvSpPr>
          <p:cNvPr id="112" name="Text 110"/>
          <p:cNvSpPr/>
          <p:nvPr/>
        </p:nvSpPr>
        <p:spPr>
          <a:xfrm>
            <a:off x="9226296" y="4507992"/>
            <a:ext cx="24688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三路混合检索（向量+BM25+图谱）</a:t>
            </a:r>
            <a:endParaRPr lang="en-US" sz="950" dirty="0"/>
          </a:p>
        </p:txBody>
      </p:sp>
      <p:sp>
        <p:nvSpPr>
          <p:cNvPr id="113" name="Text 111"/>
          <p:cNvSpPr/>
          <p:nvPr/>
        </p:nvSpPr>
        <p:spPr>
          <a:xfrm>
            <a:off x="9226296" y="4709160"/>
            <a:ext cx="24688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PostCompact Hook 自动恢复</a:t>
            </a:r>
            <a:endParaRPr lang="en-US" sz="950" dirty="0"/>
          </a:p>
        </p:txBody>
      </p:sp>
      <p:sp>
        <p:nvSpPr>
          <p:cNvPr id="114" name="Text 112"/>
          <p:cNvSpPr/>
          <p:nvPr/>
        </p:nvSpPr>
        <p:spPr>
          <a:xfrm>
            <a:off x="9226296" y="4910328"/>
            <a:ext cx="24688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跨项目 developer_profile()</a:t>
            </a:r>
            <a:endParaRPr lang="en-US" sz="950" dirty="0"/>
          </a:p>
        </p:txBody>
      </p:sp>
      <p:sp>
        <p:nvSpPr>
          <p:cNvPr id="115" name="Text 113"/>
          <p:cNvSpPr/>
          <p:nvPr/>
        </p:nvSpPr>
        <p:spPr>
          <a:xfrm>
            <a:off x="9226296" y="5111496"/>
            <a:ext cx="24688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9 步 Trait 反思引擎</a:t>
            </a:r>
            <a:endParaRPr lang="en-US" sz="950" dirty="0"/>
          </a:p>
        </p:txBody>
      </p:sp>
      <p:sp>
        <p:nvSpPr>
          <p:cNvPr id="116" name="Text 114"/>
          <p:cNvSpPr/>
          <p:nvPr/>
        </p:nvSpPr>
        <p:spPr>
          <a:xfrm>
            <a:off x="9226296" y="5312664"/>
            <a:ext cx="24688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Q-value 效用评分 + 数据飞轮</a:t>
            </a:r>
            <a:endParaRPr lang="en-US" sz="950" dirty="0"/>
          </a:p>
        </p:txBody>
      </p:sp>
      <p:sp>
        <p:nvSpPr>
          <p:cNvPr id="117" name="Text 115"/>
          <p:cNvSpPr/>
          <p:nvPr/>
        </p:nvSpPr>
        <p:spPr>
          <a:xfrm>
            <a:off x="9226296" y="5513832"/>
            <a:ext cx="24688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L0/L1/L2 渐进式返回</a:t>
            </a:r>
            <a:endParaRPr lang="en-US" sz="950" dirty="0"/>
          </a:p>
        </p:txBody>
      </p:sp>
      <p:sp>
        <p:nvSpPr>
          <p:cNvPr id="118" name="Shape 116"/>
          <p:cNvSpPr/>
          <p:nvPr/>
        </p:nvSpPr>
        <p:spPr>
          <a:xfrm>
            <a:off x="0" y="6419088"/>
            <a:ext cx="12188952" cy="438912"/>
          </a:xfrm>
          <a:prstGeom prst="rect">
            <a:avLst/>
          </a:prstGeom>
          <a:solidFill>
            <a:srgbClr val="1A3A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365760" y="6437376"/>
            <a:ext cx="11457432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Claude Code 的记忆 = Markdown 文件 + Auto-Memory + Auto-Dream</a:t>
            </a:r>
            <a:r>
              <a:rPr lang="en-US" sz="1100" dirty="0">
                <a:solidFill>
                  <a:srgbClr val="B0C4D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    简洁透明但有上限 → ZhiXing 通过 MCP 协议补齐语义检索、Trait 反思、Q-value 飞轮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1468</Words>
  <Application>WPS 文字</Application>
  <PresentationFormat>On-screen Show (16:9)</PresentationFormat>
  <Paragraphs>148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7" baseType="lpstr">
      <vt:lpstr>Arial</vt:lpstr>
      <vt:lpstr>宋体</vt:lpstr>
      <vt:lpstr>Wingdings</vt:lpstr>
      <vt:lpstr>Arial</vt:lpstr>
      <vt:lpstr>Arial</vt:lpstr>
      <vt:lpstr>宋体</vt:lpstr>
      <vt:lpstr>汉仪书宋二KW</vt:lpstr>
      <vt:lpstr>Calibri</vt:lpstr>
      <vt:lpstr>Helvetica Neue</vt:lpstr>
      <vt:lpstr>Apple Color Emoji</vt:lpstr>
      <vt:lpstr>微软雅黑</vt:lpstr>
      <vt:lpstr>汉仪旗黑</vt:lpstr>
      <vt:lpstr>Arial Unicode MS</vt:lpstr>
      <vt:lpstr>等线</vt:lpstr>
      <vt:lpstr>汉仪中等线KW</vt:lpstr>
      <vt:lpstr>Office Theme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Code 记忆架构</dc:title>
  <dc:creator>DBay Team</dc:creator>
  <dc:subject>PptxGenJS Presentation</dc:subject>
  <cp:lastModifiedBy>Jacky</cp:lastModifiedBy>
  <cp:revision>2</cp:revision>
  <dcterms:created xsi:type="dcterms:W3CDTF">2026-03-29T15:13:10Z</dcterms:created>
  <dcterms:modified xsi:type="dcterms:W3CDTF">2026-03-29T15:13:10Z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5734B673CAC3C3528641C9692A144B6A_42</vt:lpwstr>
  </property>
  <property fmtid="{D5CDD505-2E9C-101B-9397-08002B2CF9AE}" pid="3" name="KSOProductBuildVer">
    <vt:lpwstr>2052-12.1.24709.24709</vt:lpwstr>
  </property>
</Properties>
</file>