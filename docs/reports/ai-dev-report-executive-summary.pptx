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代码行数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Java (API)</c:v>
                  </c:pt>
                  <c:pt idx="1">
                    <c:v>Vue 3 (前端)</c:v>
                  </c:pt>
                  <c:pt idx="2">
                    <c:v>Shell/Helm</c:v>
                  </c:pt>
                  <c:pt idx="3">
                    <c:v>Python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30000</c:v>
                </c:pt>
                <c:pt idx="1">
                  <c:v>27000</c:v>
                </c:pt>
                <c:pt idx="2">
                  <c:v>10000</c:v>
                </c:pt>
                <c:pt idx="3">
                  <c:v>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效率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公司基线(低)</c:v>
                  </c:pt>
                  <c:pt idx="1">
                    <c:v>公司基线(高)</c:v>
                  </c:pt>
                  <c:pt idx="2">
                    <c:v>本项目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1000</c:v>
                </c:pt>
                <c:pt idx="2">
                  <c:v>78500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效率倍数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普通工程师(低)</c:v>
                  </c:pt>
                  <c:pt idx="1">
                    <c:v>普通工程师(高)</c:v>
                  </c:pt>
                  <c:pt idx="2">
                    <c:v>架构师级别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53901"/>
            <a:ext cx="409311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人 + AI，20 天构建云服务原型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655719" y="501551"/>
            <a:ext cx="1155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DBay 数据港湾 | 2026.03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39702" y="898327"/>
            <a:ext cx="16165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9702" y="1333202"/>
            <a:ext cx="16165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开发天数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51521" y="898327"/>
            <a:ext cx="16167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51521" y="1333202"/>
            <a:ext cx="1616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生产代码行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63491" y="898327"/>
            <a:ext cx="16167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79-157x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63491" y="1333202"/>
            <a:ext cx="1616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75461" y="898327"/>
            <a:ext cx="16167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75461" y="1333202"/>
            <a:ext cx="1616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提交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87431" y="898327"/>
            <a:ext cx="16167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8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87431" y="1333202"/>
            <a:ext cx="1616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 AI 成本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5550" y="1653778"/>
            <a:ext cx="4145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技术栈与代码分布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550" y="3409355"/>
            <a:ext cx="4145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效率对比 (行/人月)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3352" y="1653778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开发方法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73352" y="1910953"/>
            <a:ext cx="4114800" cy="81706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三段式流程: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Spec -&gt; Plan -&gt; Code，先确认设计再编码</a:t>
            </a:r>
            <a:endParaRPr lang="en-US" sz="780" dirty="0"/>
          </a:p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效率叠加: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专家经验(方向) + AI 执行力(速度) + 方法论(减少浪费)</a:t>
            </a:r>
            <a:endParaRPr lang="en-US" sz="780" dirty="0"/>
          </a:p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多窗口并行: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3-4 个 AI 窗口 + worktree 隔离，效率 2-3x</a:t>
            </a:r>
            <a:endParaRPr lang="en-US" sz="780" dirty="0"/>
          </a:p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E2E 闭环: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自写测试/自跑/自修，人从执行者变为验收者</a:t>
            </a:r>
            <a:endParaRPr lang="en-US" sz="780" dirty="0"/>
          </a:p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沉淀: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部署/风格/SRE/云操作封装为可复用 AI 技能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673352" y="2854970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创新亮点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73352" y="3112145"/>
            <a:ext cx="4114800" cy="49024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极速弹性: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热启动 3ms (KPI 目标 10s)，提前达成 2026 目标</a:t>
            </a:r>
            <a:endParaRPr lang="en-US" sz="780" dirty="0"/>
          </a:p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四大模块: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Serverless PG + 知识库 + 记忆库 + AI 数据湖</a:t>
            </a:r>
            <a:endParaRPr lang="en-US" sz="780" dirty="0"/>
          </a:p>
          <a:p>
            <a:pPr algn="l" marL="88900" indent="-88900">
              <a:lnSpc>
                <a:spcPts val="1287"/>
              </a:lnSpc>
              <a:buSzPct val="100000"/>
              <a:buChar char="•"/>
            </a:pPr>
            <a:r>
              <a:rPr lang="en-US" sz="78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接入:</a:t>
            </a:r>
            <a:pPr algn="l" indent="0" marL="0">
              <a:lnSpc>
                <a:spcPts val="1287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支持 Claude/GPT/Gemini 等多 Agent 标准化接入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673352" y="3729335"/>
            <a:ext cx="4197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73352" y="3986510"/>
            <a:ext cx="4197096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是能力放大器，放大使用者的判断力和经验。不是"AI 替代程序员"，而是"专家 + AI = 超级团队"。等效 72-143 人月，ROI ~100x。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5550" y="5012531"/>
            <a:ext cx="86014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人 (架构师) + Claude AI | 2026-03-03 至 2026-03-22 | 已部署华为云 CCE</a:t>
            </a:r>
            <a:endParaRPr lang="en-US" sz="6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55550" y="1885504"/>
          <a:ext cx="4063901" cy="1396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355550" y="3641080"/>
          <a:ext cx="4063901" cy="1269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53901"/>
            <a:ext cx="25902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产品现状与产品化距离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55719" y="463451"/>
            <a:ext cx="1155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DBay 数据港湾 | 2026.03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55550" y="682526"/>
            <a:ext cx="8432750" cy="38100"/>
          </a:xfrm>
          <a:prstGeom prst="rect">
            <a:avLst/>
          </a:prstGeom>
          <a:solidFill>
            <a:srgbClr val="2C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898327"/>
            <a:ext cx="51815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产品界面 - DBay Console</a:t>
            </a:r>
            <a:endParaRPr lang="en-US" sz="1000" dirty="0"/>
          </a:p>
        </p:txBody>
      </p:sp>
      <p:pic>
        <p:nvPicPr>
          <p:cNvPr id="6" name="Image 0" descr="/Users/jacky/.claude/image-cache/d94a00e5-ae0a-4cd9-aa67-59981e956869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50" y="1155502"/>
            <a:ext cx="5099000" cy="319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5550" y="4489103"/>
            <a:ext cx="5181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已部署华为云 CCE，正在生产环境使用（替换 RDS 作为管理面数据库）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38651" y="898327"/>
            <a:ext cx="32124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距离产品上线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38651" y="1231553"/>
            <a:ext cx="3149501" cy="659309"/>
          </a:xfrm>
          <a:prstGeom prst="roundRect">
            <a:avLst>
              <a:gd name="adj" fmla="val 77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65602" y="1333054"/>
            <a:ext cx="2953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65602" y="1514029"/>
            <a:ext cx="2895600" cy="275332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黑鸭子扫描 + 门禁检查</a:t>
            </a:r>
            <a:endParaRPr lang="en-US" sz="700" dirty="0"/>
          </a:p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安全红线问题修复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638651" y="1992362"/>
            <a:ext cx="3149501" cy="659309"/>
          </a:xfrm>
          <a:prstGeom prst="roundRect">
            <a:avLst>
              <a:gd name="adj" fmla="val 77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65602" y="2093863"/>
            <a:ext cx="2953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运维与上线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65602" y="2274838"/>
            <a:ext cx="2895600" cy="275332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"十统一" AOM/LTS/SMN</a:t>
            </a:r>
            <a:endParaRPr lang="en-US" sz="700" dirty="0"/>
          </a:p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对接伏羲上线流水线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638651" y="2753171"/>
            <a:ext cx="3149501" cy="934641"/>
          </a:xfrm>
          <a:prstGeom prst="roundRect">
            <a:avLst>
              <a:gd name="adj" fmla="val 543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65602" y="2854672"/>
            <a:ext cx="2953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评审流程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65602" y="3035647"/>
            <a:ext cx="2895600" cy="550664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立项评审</a:t>
            </a:r>
            <a:endParaRPr lang="en-US" sz="700" dirty="0"/>
          </a:p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定价评审</a:t>
            </a:r>
            <a:endParaRPr lang="en-US" sz="700" dirty="0"/>
          </a:p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公测计划评审</a:t>
            </a:r>
            <a:endParaRPr lang="en-US" sz="700" dirty="0"/>
          </a:p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公测结束转商汇报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638651" y="3789313"/>
            <a:ext cx="3149501" cy="521643"/>
          </a:xfrm>
          <a:prstGeom prst="roundRect">
            <a:avLst>
              <a:gd name="adj" fmla="val 97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765602" y="3890814"/>
            <a:ext cx="2953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商业化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65602" y="4071789"/>
            <a:ext cx="2895600" cy="13766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085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产品定价 + 计费系统对接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638651" y="4463207"/>
            <a:ext cx="32124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原型已验证功能可行性，产品化需产品化团队落入正式产品，满足各项规范。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28600"/>
            <a:ext cx="9326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后续建议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55719" y="400050"/>
            <a:ext cx="1155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DBay 数据港湾 | 2026.03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55550" y="606326"/>
            <a:ext cx="8432750" cy="38100"/>
          </a:xfrm>
          <a:prstGeom prst="rect">
            <a:avLst/>
          </a:prstGeom>
          <a:solidFill>
            <a:srgbClr val="2C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796826"/>
            <a:ext cx="42748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开发规范 — 需补齐六项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55550" y="1034951"/>
            <a:ext cx="4191000" cy="434876"/>
          </a:xfrm>
          <a:prstGeom prst="roundRect">
            <a:avLst>
              <a:gd name="adj" fmla="val 87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9850" y="1111151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代码 Review 标准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9850" y="1279327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 AI 代码 review 流程差异，谁来 review、用什么标准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55550" y="1533227"/>
            <a:ext cx="4191000" cy="434876"/>
          </a:xfrm>
          <a:prstGeom prst="roundRect">
            <a:avLst>
              <a:gd name="adj" fmla="val 87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9850" y="1609427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安全审计流程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9850" y="1777603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AI 代码安全扫描和审计机制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55550" y="2031504"/>
            <a:ext cx="4191000" cy="434876"/>
          </a:xfrm>
          <a:prstGeom prst="roundRect">
            <a:avLst>
              <a:gd name="adj" fmla="val 87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9850" y="2107704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可维护性评估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850" y="2275880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代码可读性、文档化要求和维护性标准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55550" y="2529780"/>
            <a:ext cx="4191000" cy="434876"/>
          </a:xfrm>
          <a:prstGeom prst="roundRect">
            <a:avLst>
              <a:gd name="adj" fmla="val 87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9850" y="2605980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性能基准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9850" y="2774156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建立性能测试基准和回归机制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55550" y="3028057"/>
            <a:ext cx="4191000" cy="434876"/>
          </a:xfrm>
          <a:prstGeom prst="roundRect">
            <a:avLst>
              <a:gd name="adj" fmla="val 87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9850" y="3104257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容灾测试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9850" y="3272433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故障转移、数据恢复需经过完整容灾演练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55550" y="3526334"/>
            <a:ext cx="4191000" cy="434876"/>
          </a:xfrm>
          <a:prstGeom prst="roundRect">
            <a:avLst>
              <a:gd name="adj" fmla="val 87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850" y="3602534"/>
            <a:ext cx="4041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CI/CD 集成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850" y="3770709"/>
            <a:ext cx="40416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AI 质量门禁纳入流水线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49701" y="796826"/>
            <a:ext cx="4119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团队引入策略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49701" y="1034951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预期收益 (效率倍数)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49701" y="2155627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三步引入 ($200/人/月)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49701" y="2336602"/>
            <a:ext cx="4038600" cy="426393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赋能资深工程师，沉淀 Skill 和规范</a:t>
            </a:r>
            <a:endParaRPr lang="en-US" sz="700" dirty="0"/>
          </a:p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 共享降低门槛，团队复用 AI 技能</a:t>
            </a:r>
            <a:endParaRPr lang="en-US" sz="700" dirty="0"/>
          </a:p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建立 AI 开发规范 (Review + 安全 + E2E + 部署)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49701" y="2839194"/>
            <a:ext cx="411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团队 (3-5 人)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49701" y="3020169"/>
            <a:ext cx="4038600" cy="568523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产品架构师 x1 (PM + 架构 + AI 驾驭)</a:t>
            </a:r>
            <a:endParaRPr lang="en-US" sz="700" dirty="0"/>
          </a:p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全栈工程师 x1-2 (前后端 + AI pair)</a:t>
            </a:r>
            <a:endParaRPr lang="en-US" sz="700" dirty="0"/>
          </a:p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质量/安全工程师 x1 (审计 + 门禁)</a:t>
            </a:r>
            <a:endParaRPr lang="en-US" sz="700" dirty="0"/>
          </a:p>
          <a:p>
            <a:pPr algn="l" marL="69850" indent="-6985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平台工程师 x0-1 (基建 + SRE)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9701" y="3664893"/>
            <a:ext cx="4038600" cy="475952"/>
          </a:xfrm>
          <a:prstGeom prst="roundRect">
            <a:avLst>
              <a:gd name="adj" fmla="val 1067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8804" y="3766393"/>
            <a:ext cx="3860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是能力放大器</a:t>
            </a:r>
            <a:pPr algn="ctr" indent="0" marL="0">
              <a:buNone/>
            </a:pPr>
            <a:r>
              <a:rPr lang="en-US" sz="750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架构师 + AI &gt;&gt; 初级工程师 + AI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38804" y="3925044"/>
            <a:ext cx="38603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 AI 工具的同时，要投资人的判断力</a:t>
            </a:r>
            <a:endParaRPr lang="en-US" sz="6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749701" y="1215926"/>
          <a:ext cx="4038600" cy="863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1人+AI 20天构建云服务原型</dc:title>
  <dc:subject>PptxGenJS Presentation</dc:subject>
  <dc:creator>Jacky Li</dc:creator>
  <cp:lastModifiedBy>Jacky Li</cp:lastModifiedBy>
  <cp:revision>1</cp:revision>
  <dcterms:created xsi:type="dcterms:W3CDTF">2026-04-01T09:40:42Z</dcterms:created>
  <dcterms:modified xsi:type="dcterms:W3CDTF">2026-04-01T09:40:42Z</dcterms:modified>
</cp:coreProperties>
</file>