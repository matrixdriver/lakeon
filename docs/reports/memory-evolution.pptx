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60" r:id="rId3"/>
    <p:sldId id="257" r:id="rId5"/>
    <p:sldId id="259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30352"/>
          </a:xfrm>
          <a:prstGeom prst="rect">
            <a:avLst/>
          </a:prstGeom>
          <a:solidFill>
            <a:srgbClr val="1A3A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10058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不同 Agent 场景需要不同的记忆策略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109728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0C4D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5 类 Agent 场景 × 3 层记忆系统 = 场景化 Preset 配置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621792"/>
            <a:ext cx="27432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A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5 类 Agent 场景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4340" y="896112"/>
            <a:ext cx="2176272" cy="2514600"/>
          </a:xfrm>
          <a:prstGeom prst="roundRect">
            <a:avLst>
              <a:gd name="adj" fmla="val 2521"/>
            </a:avLst>
          </a:prstGeom>
          <a:solidFill>
            <a:srgbClr val="E3F0FF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4340" y="896112"/>
            <a:ext cx="2176272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" y="896112"/>
            <a:ext cx="2084832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💻  编码助手</a:t>
            </a:r>
            <a:endParaRPr lang="en-US" sz="1600" b="1" dirty="0">
              <a:solidFill>
                <a:srgbClr val="FFFFFF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80060" y="1078992"/>
            <a:ext cx="2084832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Claude Code / Cursor</a:t>
            </a:r>
            <a:endParaRPr lang="en-US" sz="900" dirty="0">
              <a:solidFill>
                <a:srgbClr val="FFFFFF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07492" y="1298448"/>
            <a:ext cx="109728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565C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加载策略</a:t>
            </a:r>
            <a:endParaRPr lang="en-US" sz="1000" b="1" dirty="0">
              <a:solidFill>
                <a:srgbClr val="1565C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07492" y="1444752"/>
            <a:ext cx="2029968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Markdown 全量注入</a:t>
            </a:r>
            <a:endParaRPr lang="en-US" sz="10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07492" y="1572768"/>
            <a:ext cx="2029968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CLAUDE.md 200行上限</a:t>
            </a:r>
            <a:endParaRPr lang="en-US" sz="900" i="1" dirty="0">
              <a:solidFill>
                <a:srgbClr val="5D6D7E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07492" y="1773936"/>
            <a:ext cx="91440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565C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记忆类型</a:t>
            </a:r>
            <a:endParaRPr lang="en-US" sz="1000" b="1" dirty="0">
              <a:solidFill>
                <a:srgbClr val="1565C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07492" y="1920240"/>
            <a:ext cx="2029968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Decision / Rejection / Pattern</a:t>
            </a:r>
            <a:endParaRPr lang="en-US" sz="10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07492" y="2121408"/>
            <a:ext cx="137160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565C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衰减 / 检索</a:t>
            </a:r>
            <a:endParaRPr lang="en-US" sz="1000" b="1" dirty="0">
              <a:solidFill>
                <a:srgbClr val="1565C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07492" y="2267712"/>
            <a:ext cx="2029968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不衰减（决策长期有效）</a:t>
            </a:r>
            <a:endParaRPr lang="en-US" sz="95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07492" y="2414016"/>
            <a:ext cx="2029968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无语义检索，全量加载</a:t>
            </a:r>
            <a:endParaRPr lang="en-US" sz="95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07492" y="2615184"/>
            <a:ext cx="2029968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Token 预算：&lt;500 tokens</a:t>
            </a:r>
            <a:endParaRPr lang="en-US" sz="950" dirty="0">
              <a:solidFill>
                <a:srgbClr val="5D6D7E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89204" y="2968752"/>
            <a:ext cx="2066544" cy="219456"/>
          </a:xfrm>
          <a:prstGeom prst="rect">
            <a:avLst/>
          </a:prstGeom>
          <a:solidFill>
            <a:srgbClr val="1565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7492" y="2968752"/>
            <a:ext cx="2029968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⚡ 人工可编辑 · Git 可追踪</a:t>
            </a:r>
            <a:endParaRPr lang="en-US" sz="1000" b="1" dirty="0">
              <a:solidFill>
                <a:srgbClr val="FFFFFF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720340" y="896112"/>
            <a:ext cx="2176272" cy="2514600"/>
          </a:xfrm>
          <a:prstGeom prst="roundRect">
            <a:avLst>
              <a:gd name="adj" fmla="val 2521"/>
            </a:avLst>
          </a:prstGeom>
          <a:solidFill>
            <a:srgbClr val="E8F6F3"/>
          </a:solidFill>
          <a:ln w="19050">
            <a:solidFill>
              <a:srgbClr val="0D7C6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20340" y="896112"/>
            <a:ext cx="2176272" cy="347472"/>
          </a:xfrm>
          <a:prstGeom prst="rect">
            <a:avLst/>
          </a:prstGeom>
          <a:solidFill>
            <a:srgbClr val="0D7C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66060" y="896112"/>
            <a:ext cx="2084832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🤖  个人助理</a:t>
            </a:r>
            <a:endParaRPr lang="en-US" sz="1600" b="1" dirty="0">
              <a:solidFill>
                <a:srgbClr val="FFFFFF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2766060" y="1078992"/>
            <a:ext cx="2084832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OpenClaw / ChatGPT</a:t>
            </a:r>
            <a:endParaRPr lang="en-US" sz="900" dirty="0">
              <a:solidFill>
                <a:srgbClr val="FFFFFF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2793492" y="1298448"/>
            <a:ext cx="109728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7C6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加载策略</a:t>
            </a:r>
            <a:endParaRPr lang="en-US" sz="1000" b="1" dirty="0">
              <a:solidFill>
                <a:srgbClr val="0D7C66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2793492" y="1444752"/>
            <a:ext cx="2029968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Markdown + SQLite 混合</a:t>
            </a:r>
            <a:endParaRPr lang="en-US" sz="10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2793492" y="1572768"/>
            <a:ext cx="2029968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核心文件全注入 + 历史搜索</a:t>
            </a:r>
            <a:endParaRPr lang="en-US" sz="900" i="1" dirty="0">
              <a:solidFill>
                <a:srgbClr val="5D6D7E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2793492" y="1773936"/>
            <a:ext cx="91440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7C6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记忆类型</a:t>
            </a:r>
            <a:endParaRPr lang="en-US" sz="1000" b="1" dirty="0">
              <a:solidFill>
                <a:srgbClr val="0D7C66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2793492" y="1920240"/>
            <a:ext cx="2029968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Fact / Trait / Episode</a:t>
            </a:r>
            <a:endParaRPr lang="en-US" sz="10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2793492" y="2121408"/>
            <a:ext cx="137160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7C6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衰减 / 检索</a:t>
            </a:r>
            <a:endParaRPr lang="en-US" sz="1000" b="1" dirty="0">
              <a:solidFill>
                <a:srgbClr val="0D7C66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2793492" y="2267712"/>
            <a:ext cx="2029968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指数衰减 λ=0.95/周</a:t>
            </a:r>
            <a:endParaRPr lang="en-US" sz="95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2793492" y="2414016"/>
            <a:ext cx="2029968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Vector+BM25+RRF+MMR</a:t>
            </a:r>
            <a:endParaRPr lang="en-US" sz="95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2793492" y="2615184"/>
            <a:ext cx="2029968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Token 预算：&lt;800 tokens</a:t>
            </a:r>
            <a:endParaRPr lang="en-US" sz="950" dirty="0">
              <a:solidFill>
                <a:srgbClr val="5D6D7E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2775204" y="2968752"/>
            <a:ext cx="2066544" cy="219456"/>
          </a:xfrm>
          <a:prstGeom prst="rect">
            <a:avLst/>
          </a:prstGeom>
          <a:solidFill>
            <a:srgbClr val="0D7C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93492" y="2968752"/>
            <a:ext cx="2029968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⚡ 精准召回 · 节省 72% Token</a:t>
            </a:r>
            <a:endParaRPr lang="en-US" sz="1000" b="1" dirty="0">
              <a:solidFill>
                <a:srgbClr val="FFFFFF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5006340" y="896112"/>
            <a:ext cx="2176272" cy="2514600"/>
          </a:xfrm>
          <a:prstGeom prst="roundRect">
            <a:avLst>
              <a:gd name="adj" fmla="val 2521"/>
            </a:avLst>
          </a:prstGeom>
          <a:solidFill>
            <a:srgbClr val="FEF3E8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006340" y="896112"/>
            <a:ext cx="2176272" cy="347472"/>
          </a:xfrm>
          <a:prstGeom prst="rect">
            <a:avLst/>
          </a:prstGeom>
          <a:solidFill>
            <a:srgbClr val="B4530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52060" y="896112"/>
            <a:ext cx="2084832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🏢  业务垂直</a:t>
            </a:r>
            <a:endParaRPr lang="en-US" sz="1600" b="1" dirty="0">
              <a:solidFill>
                <a:srgbClr val="FFFFFF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5052060" y="1078992"/>
            <a:ext cx="2084832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客服 / 销售 / 法律</a:t>
            </a:r>
            <a:endParaRPr lang="en-US" sz="900" dirty="0">
              <a:solidFill>
                <a:srgbClr val="FFFFFF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5079492" y="1298448"/>
            <a:ext cx="109728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4530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加载策略</a:t>
            </a:r>
            <a:endParaRPr lang="en-US" sz="1000" b="1" dirty="0">
              <a:solidFill>
                <a:srgbClr val="B45309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5079492" y="1444752"/>
            <a:ext cx="2029968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结构化 DB 按需加载</a:t>
            </a:r>
            <a:endParaRPr lang="en-US" sz="10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5079492" y="1572768"/>
            <a:ext cx="2029968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客户ID精确 + 语义补充</a:t>
            </a:r>
            <a:endParaRPr lang="en-US" sz="900" i="1" dirty="0">
              <a:solidFill>
                <a:srgbClr val="5D6D7E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5079492" y="1773936"/>
            <a:ext cx="91440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4530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记忆类型</a:t>
            </a:r>
            <a:endParaRPr lang="en-US" sz="1000" b="1" dirty="0">
              <a:solidFill>
                <a:srgbClr val="B45309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5079492" y="1920240"/>
            <a:ext cx="2029968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Fact / Decision / Episode</a:t>
            </a:r>
            <a:endParaRPr lang="en-US" sz="10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5079492" y="2121408"/>
            <a:ext cx="137160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4530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衰减 / 检索</a:t>
            </a:r>
            <a:endParaRPr lang="en-US" sz="1000" b="1" dirty="0">
              <a:solidFill>
                <a:srgbClr val="B45309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5079492" y="2267712"/>
            <a:ext cx="2029968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不衰减（审计合规）</a:t>
            </a:r>
            <a:endParaRPr lang="en-US" sz="95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5079492" y="2414016"/>
            <a:ext cx="2029968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ID精确 + 语义 + RBAC</a:t>
            </a:r>
            <a:endParaRPr lang="en-US" sz="95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5079492" y="2615184"/>
            <a:ext cx="2029968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Token 预算：按需完整加载</a:t>
            </a:r>
            <a:endParaRPr lang="en-US" sz="950" dirty="0">
              <a:solidFill>
                <a:srgbClr val="5D6D7E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5061204" y="2968752"/>
            <a:ext cx="2066544" cy="219456"/>
          </a:xfrm>
          <a:prstGeom prst="rect">
            <a:avLst/>
          </a:prstGeom>
          <a:solidFill>
            <a:srgbClr val="B4530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79492" y="2968752"/>
            <a:ext cx="2029968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⚡ 审计轨迹 · Append-only</a:t>
            </a:r>
            <a:endParaRPr lang="en-US" sz="1000" b="1" dirty="0">
              <a:solidFill>
                <a:srgbClr val="FFFFFF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7292340" y="896112"/>
            <a:ext cx="2176272" cy="2514600"/>
          </a:xfrm>
          <a:prstGeom prst="roundRect">
            <a:avLst>
              <a:gd name="adj" fmla="val 2521"/>
            </a:avLst>
          </a:prstGeom>
          <a:solidFill>
            <a:srgbClr val="F3EDF9"/>
          </a:solidFill>
          <a:ln w="19050">
            <a:solidFill>
              <a:srgbClr val="6B3FA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292340" y="896112"/>
            <a:ext cx="2176272" cy="347472"/>
          </a:xfrm>
          <a:prstGeom prst="rect">
            <a:avLst/>
          </a:prstGeom>
          <a:solidFill>
            <a:srgbClr val="6B3F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338060" y="896112"/>
            <a:ext cx="2084832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🔄  多Agent协作</a:t>
            </a:r>
            <a:endParaRPr lang="en-US" sz="1600" b="1" dirty="0">
              <a:solidFill>
                <a:srgbClr val="FFFFFF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7338060" y="1078992"/>
            <a:ext cx="2084832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CrewAI / AutoGen</a:t>
            </a:r>
            <a:endParaRPr lang="en-US" sz="900" dirty="0">
              <a:solidFill>
                <a:srgbClr val="FFFFFF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7365492" y="1298448"/>
            <a:ext cx="109728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3FA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加载策略</a:t>
            </a:r>
            <a:endParaRPr lang="en-US" sz="1000" b="1" dirty="0">
              <a:solidFill>
                <a:srgbClr val="6B3FA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7365492" y="1444752"/>
            <a:ext cx="2029968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共享状态实时读取</a:t>
            </a:r>
            <a:endParaRPr lang="en-US" sz="10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7365492" y="1572768"/>
            <a:ext cx="2029968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任务ID精确查询</a:t>
            </a:r>
            <a:endParaRPr lang="en-US" sz="900" i="1" dirty="0">
              <a:solidFill>
                <a:srgbClr val="5D6D7E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7365492" y="1773936"/>
            <a:ext cx="91440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3FA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记忆类型</a:t>
            </a:r>
            <a:endParaRPr lang="en-US" sz="1000" b="1" dirty="0">
              <a:solidFill>
                <a:srgbClr val="6B3FA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7365492" y="1920240"/>
            <a:ext cx="2029968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Context / Result</a:t>
            </a:r>
            <a:endParaRPr lang="en-US" sz="10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7365492" y="2121408"/>
            <a:ext cx="137160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3FA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衰减 / 检索</a:t>
            </a:r>
            <a:endParaRPr lang="en-US" sz="1000" b="1" dirty="0">
              <a:solidFill>
                <a:srgbClr val="6B3FA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7365492" y="2267712"/>
            <a:ext cx="2029968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任务结束整体清除</a:t>
            </a:r>
            <a:endParaRPr lang="en-US" sz="95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7365492" y="2414016"/>
            <a:ext cx="2029968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任务ID精确查询</a:t>
            </a:r>
            <a:endParaRPr lang="en-US" sz="95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7365492" y="2615184"/>
            <a:ext cx="2029968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Token 预算：&lt;200 tokens</a:t>
            </a:r>
            <a:endParaRPr lang="en-US" sz="950" dirty="0">
              <a:solidFill>
                <a:srgbClr val="5D6D7E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64" name="Shape 62"/>
          <p:cNvSpPr/>
          <p:nvPr/>
        </p:nvSpPr>
        <p:spPr>
          <a:xfrm>
            <a:off x="7347204" y="2968752"/>
            <a:ext cx="2066544" cy="219456"/>
          </a:xfrm>
          <a:prstGeom prst="rect">
            <a:avLst/>
          </a:prstGeom>
          <a:solidFill>
            <a:srgbClr val="6B3F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365492" y="2968752"/>
            <a:ext cx="2029968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⚡ 跨Agent状态共享</a:t>
            </a:r>
            <a:endParaRPr lang="en-US" sz="1000" b="1" dirty="0">
              <a:solidFill>
                <a:srgbClr val="FFFFFF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66" name="Shape 64"/>
          <p:cNvSpPr/>
          <p:nvPr/>
        </p:nvSpPr>
        <p:spPr>
          <a:xfrm>
            <a:off x="9578340" y="896112"/>
            <a:ext cx="2176272" cy="2514600"/>
          </a:xfrm>
          <a:prstGeom prst="roundRect">
            <a:avLst>
              <a:gd name="adj" fmla="val 2521"/>
            </a:avLst>
          </a:prstGeom>
          <a:solidFill>
            <a:srgbClr val="FDEDEC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9578340" y="896112"/>
            <a:ext cx="2176272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9624060" y="896112"/>
            <a:ext cx="2084832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💬  长期陪伴</a:t>
            </a:r>
            <a:endParaRPr lang="en-US" sz="1600" b="1" dirty="0">
              <a:solidFill>
                <a:srgbClr val="FFFFFF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69" name="Text 67"/>
          <p:cNvSpPr/>
          <p:nvPr/>
        </p:nvSpPr>
        <p:spPr>
          <a:xfrm>
            <a:off x="9624060" y="1078992"/>
            <a:ext cx="2084832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Character.AI</a:t>
            </a:r>
            <a:endParaRPr lang="en-US" sz="900" dirty="0">
              <a:solidFill>
                <a:srgbClr val="FFFFFF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70" name="Text 68"/>
          <p:cNvSpPr/>
          <p:nvPr/>
        </p:nvSpPr>
        <p:spPr>
          <a:xfrm>
            <a:off x="9651492" y="1298448"/>
            <a:ext cx="109728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0392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加载策略</a:t>
            </a:r>
            <a:endParaRPr lang="en-US" sz="1000" b="1" dirty="0">
              <a:solidFill>
                <a:srgbClr val="C0392B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71" name="Text 69"/>
          <p:cNvSpPr/>
          <p:nvPr/>
        </p:nvSpPr>
        <p:spPr>
          <a:xfrm>
            <a:off x="9651492" y="1444752"/>
            <a:ext cx="2029968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人格 + 情感 + 关系图谱</a:t>
            </a:r>
            <a:endParaRPr lang="en-US" sz="10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72" name="Text 70"/>
          <p:cNvSpPr/>
          <p:nvPr/>
        </p:nvSpPr>
        <p:spPr>
          <a:xfrm>
            <a:off x="9651492" y="1572768"/>
            <a:ext cx="2029968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情感权重优先</a:t>
            </a:r>
            <a:endParaRPr lang="en-US" sz="900" i="1" dirty="0">
              <a:solidFill>
                <a:srgbClr val="5D6D7E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73" name="Text 71"/>
          <p:cNvSpPr/>
          <p:nvPr/>
        </p:nvSpPr>
        <p:spPr>
          <a:xfrm>
            <a:off x="9651492" y="1773936"/>
            <a:ext cx="91440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0392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记忆类型</a:t>
            </a:r>
            <a:endParaRPr lang="en-US" sz="1000" b="1" dirty="0">
              <a:solidFill>
                <a:srgbClr val="C0392B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74" name="Text 72"/>
          <p:cNvSpPr/>
          <p:nvPr/>
        </p:nvSpPr>
        <p:spPr>
          <a:xfrm>
            <a:off x="9651492" y="1920240"/>
            <a:ext cx="2029968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Trait / Episode + 情感标注</a:t>
            </a:r>
            <a:endParaRPr lang="en-US" sz="10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75" name="Text 73"/>
          <p:cNvSpPr/>
          <p:nvPr/>
        </p:nvSpPr>
        <p:spPr>
          <a:xfrm>
            <a:off x="9651492" y="2121408"/>
            <a:ext cx="137160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0392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衰减 / 检索</a:t>
            </a:r>
            <a:endParaRPr lang="en-US" sz="1000" b="1" dirty="0">
              <a:solidFill>
                <a:srgbClr val="C0392B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76" name="Text 74"/>
          <p:cNvSpPr/>
          <p:nvPr/>
        </p:nvSpPr>
        <p:spPr>
          <a:xfrm>
            <a:off x="9651492" y="2267712"/>
            <a:ext cx="2029968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强衰减 λ=0.92/天</a:t>
            </a:r>
            <a:endParaRPr lang="en-US" sz="95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77" name="Text 75"/>
          <p:cNvSpPr/>
          <p:nvPr/>
        </p:nvSpPr>
        <p:spPr>
          <a:xfrm>
            <a:off x="9651492" y="2414016"/>
            <a:ext cx="2029968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语义+情感+关系图谱</a:t>
            </a:r>
            <a:endParaRPr lang="en-US" sz="95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78" name="Text 76"/>
          <p:cNvSpPr/>
          <p:nvPr/>
        </p:nvSpPr>
        <p:spPr>
          <a:xfrm>
            <a:off x="9651492" y="2615184"/>
            <a:ext cx="2029968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Token 预算：&lt;1500 tokens</a:t>
            </a:r>
            <a:endParaRPr lang="en-US" sz="950" dirty="0">
              <a:solidFill>
                <a:srgbClr val="5D6D7E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79" name="Shape 77"/>
          <p:cNvSpPr/>
          <p:nvPr/>
        </p:nvSpPr>
        <p:spPr>
          <a:xfrm>
            <a:off x="9633204" y="2968752"/>
            <a:ext cx="2066544" cy="219456"/>
          </a:xfrm>
          <a:prstGeom prst="rect">
            <a:avLst/>
          </a:prstGeom>
          <a:solidFill>
            <a:srgbClr val="C03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9651492" y="2968752"/>
            <a:ext cx="2029968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⚡ 人格一致 · 情感记忆弧</a:t>
            </a:r>
            <a:endParaRPr lang="en-US" sz="1000" b="1" dirty="0">
              <a:solidFill>
                <a:srgbClr val="FFFFFF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81" name="Shape 79"/>
          <p:cNvSpPr/>
          <p:nvPr/>
        </p:nvSpPr>
        <p:spPr>
          <a:xfrm>
            <a:off x="182880" y="3493008"/>
            <a:ext cx="11823192" cy="2834640"/>
          </a:xfrm>
          <a:prstGeom prst="roundRect">
            <a:avLst>
              <a:gd name="adj" fmla="val 3226"/>
            </a:avLst>
          </a:prstGeom>
          <a:solidFill>
            <a:srgbClr val="FAFBFD"/>
          </a:solidFill>
          <a:ln w="12700">
            <a:solidFill>
              <a:srgbClr val="DEE5ED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20040" y="3529584"/>
            <a:ext cx="54864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A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统一三层记忆系统 — 同一引擎，场景化配置</a:t>
            </a:r>
            <a:endParaRPr lang="en-US" sz="1300" dirty="0"/>
          </a:p>
        </p:txBody>
      </p:sp>
      <p:sp>
        <p:nvSpPr>
          <p:cNvPr id="83" name="Shape 81"/>
          <p:cNvSpPr/>
          <p:nvPr/>
        </p:nvSpPr>
        <p:spPr>
          <a:xfrm>
            <a:off x="1911096" y="3822192"/>
            <a:ext cx="1958645" cy="219456"/>
          </a:xfrm>
          <a:prstGeom prst="rect">
            <a:avLst/>
          </a:prstGeom>
          <a:solidFill>
            <a:srgbClr val="1565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911096" y="3822192"/>
            <a:ext cx="1958645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💻 编码助手</a:t>
            </a:r>
            <a:endParaRPr lang="en-US" sz="1200" b="1" dirty="0">
              <a:solidFill>
                <a:srgbClr val="FFFFFF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85" name="Shape 83"/>
          <p:cNvSpPr/>
          <p:nvPr/>
        </p:nvSpPr>
        <p:spPr>
          <a:xfrm>
            <a:off x="3906317" y="3822192"/>
            <a:ext cx="1958645" cy="219456"/>
          </a:xfrm>
          <a:prstGeom prst="rect">
            <a:avLst/>
          </a:prstGeom>
          <a:solidFill>
            <a:srgbClr val="0D7C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906317" y="3822192"/>
            <a:ext cx="1958645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🤖 个人助理</a:t>
            </a:r>
            <a:endParaRPr lang="en-US" sz="1200" b="1" dirty="0">
              <a:solidFill>
                <a:srgbClr val="FFFFFF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87" name="Shape 85"/>
          <p:cNvSpPr/>
          <p:nvPr/>
        </p:nvSpPr>
        <p:spPr>
          <a:xfrm>
            <a:off x="5901538" y="3822192"/>
            <a:ext cx="1958645" cy="219456"/>
          </a:xfrm>
          <a:prstGeom prst="rect">
            <a:avLst/>
          </a:prstGeom>
          <a:solidFill>
            <a:srgbClr val="B4530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901538" y="3822192"/>
            <a:ext cx="1958645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🏢 业务垂直</a:t>
            </a:r>
            <a:endParaRPr lang="en-US" sz="1200" b="1" dirty="0">
              <a:solidFill>
                <a:srgbClr val="FFFFFF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89" name="Shape 87"/>
          <p:cNvSpPr/>
          <p:nvPr/>
        </p:nvSpPr>
        <p:spPr>
          <a:xfrm>
            <a:off x="7896758" y="3822192"/>
            <a:ext cx="1958645" cy="219456"/>
          </a:xfrm>
          <a:prstGeom prst="rect">
            <a:avLst/>
          </a:prstGeom>
          <a:solidFill>
            <a:srgbClr val="6B3F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896758" y="3822192"/>
            <a:ext cx="1958645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🔄 多Agent</a:t>
            </a:r>
            <a:endParaRPr lang="en-US" sz="1200" b="1" dirty="0">
              <a:solidFill>
                <a:srgbClr val="FFFFFF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91" name="Shape 89"/>
          <p:cNvSpPr/>
          <p:nvPr/>
        </p:nvSpPr>
        <p:spPr>
          <a:xfrm>
            <a:off x="9891979" y="3822192"/>
            <a:ext cx="1958645" cy="219456"/>
          </a:xfrm>
          <a:prstGeom prst="rect">
            <a:avLst/>
          </a:prstGeom>
          <a:solidFill>
            <a:srgbClr val="C03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9891979" y="3822192"/>
            <a:ext cx="1958645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💬 长期陪伴</a:t>
            </a:r>
            <a:endParaRPr lang="en-US" sz="1200" b="1" dirty="0">
              <a:solidFill>
                <a:srgbClr val="FFFFFF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93" name="Shape 91"/>
          <p:cNvSpPr/>
          <p:nvPr/>
        </p:nvSpPr>
        <p:spPr>
          <a:xfrm>
            <a:off x="320040" y="4096512"/>
            <a:ext cx="1463040" cy="658368"/>
          </a:xfrm>
          <a:prstGeom prst="roundRect">
            <a:avLst>
              <a:gd name="adj" fmla="val 8333"/>
            </a:avLst>
          </a:prstGeom>
          <a:solidFill>
            <a:srgbClr val="E3F0FF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20040" y="4096512"/>
            <a:ext cx="45720" cy="658368"/>
          </a:xfrm>
          <a:prstGeom prst="rect">
            <a:avLst/>
          </a:prstGeom>
          <a:solidFill>
            <a:srgbClr val="1565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11480" y="4133088"/>
            <a:ext cx="128016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565C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策略层</a:t>
            </a:r>
            <a:endParaRPr lang="en-US" sz="1200" b="1" dirty="0">
              <a:solidFill>
                <a:srgbClr val="1565C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96" name="Text 94"/>
          <p:cNvSpPr/>
          <p:nvPr/>
        </p:nvSpPr>
        <p:spPr>
          <a:xfrm>
            <a:off x="411480" y="4370832"/>
            <a:ext cx="1280160" cy="32918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提取 / 衰减 / </a:t>
            </a:r>
            <a:r>
              <a:rPr lang="zh-CN" altLang="en-US" sz="90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合并</a:t>
            </a:r>
            <a:r>
              <a:rPr lang="en-US" altLang="zh-CN" sz="90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/  </a:t>
            </a:r>
            <a:r>
              <a:rPr lang="en-US" sz="90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排序 / </a:t>
            </a:r>
            <a:r>
              <a:rPr lang="zh-CN" altLang="en-US" sz="90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反思</a:t>
            </a:r>
            <a:endParaRPr lang="zh-CN" altLang="en-US" sz="900" dirty="0">
              <a:solidFill>
                <a:srgbClr val="5D6D7E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97" name="Shape 95"/>
          <p:cNvSpPr/>
          <p:nvPr/>
        </p:nvSpPr>
        <p:spPr>
          <a:xfrm>
            <a:off x="1911096" y="4096512"/>
            <a:ext cx="1958645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1947672" y="4133088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Markdown 全量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99" name="Text 97"/>
          <p:cNvSpPr/>
          <p:nvPr/>
        </p:nvSpPr>
        <p:spPr>
          <a:xfrm>
            <a:off x="1947672" y="4334256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不衰减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00" name="Text 98"/>
          <p:cNvSpPr/>
          <p:nvPr/>
        </p:nvSpPr>
        <p:spPr>
          <a:xfrm>
            <a:off x="1947672" y="4535424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全文匹配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01" name="Shape 99"/>
          <p:cNvSpPr/>
          <p:nvPr/>
        </p:nvSpPr>
        <p:spPr>
          <a:xfrm>
            <a:off x="3906317" y="4096512"/>
            <a:ext cx="1958645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3942893" y="4133088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自动提取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03" name="Text 101"/>
          <p:cNvSpPr/>
          <p:nvPr/>
        </p:nvSpPr>
        <p:spPr>
          <a:xfrm>
            <a:off x="3942893" y="4334256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指数衰减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04" name="Text 102"/>
          <p:cNvSpPr/>
          <p:nvPr/>
        </p:nvSpPr>
        <p:spPr>
          <a:xfrm>
            <a:off x="3942893" y="4535424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Q-value 加权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05" name="Shape 103"/>
          <p:cNvSpPr/>
          <p:nvPr/>
        </p:nvSpPr>
        <p:spPr>
          <a:xfrm>
            <a:off x="5901538" y="4096512"/>
            <a:ext cx="1958645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5938114" y="4133088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规则提取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07" name="Text 105"/>
          <p:cNvSpPr/>
          <p:nvPr/>
        </p:nvSpPr>
        <p:spPr>
          <a:xfrm>
            <a:off x="5938114" y="4334256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不衰减(合规)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08" name="Text 106"/>
          <p:cNvSpPr/>
          <p:nvPr/>
        </p:nvSpPr>
        <p:spPr>
          <a:xfrm>
            <a:off x="5938114" y="4535424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ID + 语义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09" name="Shape 107"/>
          <p:cNvSpPr/>
          <p:nvPr/>
        </p:nvSpPr>
        <p:spPr>
          <a:xfrm>
            <a:off x="7896758" y="4096512"/>
            <a:ext cx="1958645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7933334" y="4133088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任务结束提取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11" name="Text 109"/>
          <p:cNvSpPr/>
          <p:nvPr/>
        </p:nvSpPr>
        <p:spPr>
          <a:xfrm>
            <a:off x="7933334" y="4334256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整体清除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12" name="Text 110"/>
          <p:cNvSpPr/>
          <p:nvPr/>
        </p:nvSpPr>
        <p:spPr>
          <a:xfrm>
            <a:off x="7933334" y="4535424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任务ID精确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13" name="Shape 111"/>
          <p:cNvSpPr/>
          <p:nvPr/>
        </p:nvSpPr>
        <p:spPr>
          <a:xfrm>
            <a:off x="9891979" y="4096512"/>
            <a:ext cx="1958645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9928555" y="4133088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异步提取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15" name="Text 113"/>
          <p:cNvSpPr/>
          <p:nvPr/>
        </p:nvSpPr>
        <p:spPr>
          <a:xfrm>
            <a:off x="9928555" y="4334256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情感权重衰减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16" name="Text 114"/>
          <p:cNvSpPr/>
          <p:nvPr/>
        </p:nvSpPr>
        <p:spPr>
          <a:xfrm>
            <a:off x="9928555" y="4535424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情感 + 语义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17" name="Shape 115"/>
          <p:cNvSpPr/>
          <p:nvPr/>
        </p:nvSpPr>
        <p:spPr>
          <a:xfrm>
            <a:off x="1051560" y="4764024"/>
            <a:ext cx="914" cy="54864"/>
          </a:xfrm>
          <a:prstGeom prst="line">
            <a:avLst/>
          </a:prstGeom>
          <a:noFill/>
          <a:ln w="12700">
            <a:solidFill>
              <a:srgbClr val="5D6D7E"/>
            </a:solidFill>
            <a:prstDash val="solid"/>
            <a:tailEnd type="triangle"/>
          </a:ln>
        </p:spPr>
      </p:sp>
      <p:sp>
        <p:nvSpPr>
          <p:cNvPr id="118" name="Shape 116"/>
          <p:cNvSpPr/>
          <p:nvPr/>
        </p:nvSpPr>
        <p:spPr>
          <a:xfrm>
            <a:off x="320040" y="4828032"/>
            <a:ext cx="1463040" cy="658368"/>
          </a:xfrm>
          <a:prstGeom prst="roundRect">
            <a:avLst>
              <a:gd name="adj" fmla="val 8333"/>
            </a:avLst>
          </a:prstGeom>
          <a:solidFill>
            <a:srgbClr val="E8F6F3"/>
          </a:solidFill>
          <a:ln w="19050">
            <a:solidFill>
              <a:srgbClr val="0D7C66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320040" y="4828032"/>
            <a:ext cx="45720" cy="658368"/>
          </a:xfrm>
          <a:prstGeom prst="rect">
            <a:avLst/>
          </a:prstGeom>
          <a:solidFill>
            <a:srgbClr val="0D7C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411480" y="4864608"/>
            <a:ext cx="128016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7C6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组织层</a:t>
            </a:r>
            <a:endParaRPr lang="en-US" sz="1200" b="1" dirty="0">
              <a:solidFill>
                <a:srgbClr val="0D7C66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21" name="Text 119"/>
          <p:cNvSpPr/>
          <p:nvPr/>
        </p:nvSpPr>
        <p:spPr>
          <a:xfrm>
            <a:off x="411480" y="5102352"/>
            <a:ext cx="1280160" cy="32918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类型 / 元数据 / 图谱</a:t>
            </a:r>
            <a:endParaRPr lang="en-US" sz="900" dirty="0">
              <a:solidFill>
                <a:srgbClr val="5D6D7E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22" name="Shape 120"/>
          <p:cNvSpPr/>
          <p:nvPr/>
        </p:nvSpPr>
        <p:spPr>
          <a:xfrm>
            <a:off x="1911096" y="4828032"/>
            <a:ext cx="1958645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1947672" y="4864608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Decision/Pattern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24" name="Text 122"/>
          <p:cNvSpPr/>
          <p:nvPr/>
        </p:nvSpPr>
        <p:spPr>
          <a:xfrm>
            <a:off x="1947672" y="5065776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YAML 前缀元数据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25" name="Text 123"/>
          <p:cNvSpPr/>
          <p:nvPr/>
        </p:nvSpPr>
        <p:spPr>
          <a:xfrm>
            <a:off x="1947672" y="5266944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Git 版本追踪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26" name="Shape 124"/>
          <p:cNvSpPr/>
          <p:nvPr/>
        </p:nvSpPr>
        <p:spPr>
          <a:xfrm>
            <a:off x="3906317" y="4828032"/>
            <a:ext cx="1958645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3942893" y="4864608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Fact/Trait/Episode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28" name="Text 126"/>
          <p:cNvSpPr/>
          <p:nvPr/>
        </p:nvSpPr>
        <p:spPr>
          <a:xfrm>
            <a:off x="3942893" y="5065776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置信度+时间戳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29" name="Text 127"/>
          <p:cNvSpPr/>
          <p:nvPr/>
        </p:nvSpPr>
        <p:spPr>
          <a:xfrm>
            <a:off x="3942893" y="5266944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人物关系图谱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30" name="Shape 128"/>
          <p:cNvSpPr/>
          <p:nvPr/>
        </p:nvSpPr>
        <p:spPr>
          <a:xfrm>
            <a:off x="5901538" y="4828032"/>
            <a:ext cx="1958645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5938114" y="4864608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Fact/Decision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32" name="Text 130"/>
          <p:cNvSpPr/>
          <p:nvPr/>
        </p:nvSpPr>
        <p:spPr>
          <a:xfrm>
            <a:off x="5938114" y="5065776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审计日志+RBAC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33" name="Text 131"/>
          <p:cNvSpPr/>
          <p:nvPr/>
        </p:nvSpPr>
        <p:spPr>
          <a:xfrm>
            <a:off x="5938114" y="5266944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客户关系图谱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34" name="Shape 132"/>
          <p:cNvSpPr/>
          <p:nvPr/>
        </p:nvSpPr>
        <p:spPr>
          <a:xfrm>
            <a:off x="7896758" y="4828032"/>
            <a:ext cx="1958645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7933334" y="4864608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Context/Result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36" name="Text 134"/>
          <p:cNvSpPr/>
          <p:nvPr/>
        </p:nvSpPr>
        <p:spPr>
          <a:xfrm>
            <a:off x="7933334" y="5065776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任务依赖标注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37" name="Text 135"/>
          <p:cNvSpPr/>
          <p:nvPr/>
        </p:nvSpPr>
        <p:spPr>
          <a:xfrm>
            <a:off x="7933334" y="5266944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工作流 DAG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38" name="Shape 136"/>
          <p:cNvSpPr/>
          <p:nvPr/>
        </p:nvSpPr>
        <p:spPr>
          <a:xfrm>
            <a:off x="9891979" y="4828032"/>
            <a:ext cx="1958645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9928555" y="4864608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Trait/Episode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40" name="Text 138"/>
          <p:cNvSpPr/>
          <p:nvPr/>
        </p:nvSpPr>
        <p:spPr>
          <a:xfrm>
            <a:off x="9928555" y="5065776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情感+人格标注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41" name="Text 139"/>
          <p:cNvSpPr/>
          <p:nvPr/>
        </p:nvSpPr>
        <p:spPr>
          <a:xfrm>
            <a:off x="9928555" y="5266944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情感关系图谱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42" name="Shape 140"/>
          <p:cNvSpPr/>
          <p:nvPr/>
        </p:nvSpPr>
        <p:spPr>
          <a:xfrm>
            <a:off x="1051560" y="5495544"/>
            <a:ext cx="914" cy="54864"/>
          </a:xfrm>
          <a:prstGeom prst="line">
            <a:avLst/>
          </a:prstGeom>
          <a:noFill/>
          <a:ln w="12700">
            <a:solidFill>
              <a:srgbClr val="5D6D7E"/>
            </a:solidFill>
            <a:prstDash val="solid"/>
            <a:tailEnd type="triangle"/>
          </a:ln>
        </p:spPr>
      </p:sp>
      <p:sp>
        <p:nvSpPr>
          <p:cNvPr id="143" name="Shape 141"/>
          <p:cNvSpPr/>
          <p:nvPr/>
        </p:nvSpPr>
        <p:spPr>
          <a:xfrm>
            <a:off x="320040" y="5559552"/>
            <a:ext cx="1463040" cy="658368"/>
          </a:xfrm>
          <a:prstGeom prst="roundRect">
            <a:avLst>
              <a:gd name="adj" fmla="val 8333"/>
            </a:avLst>
          </a:prstGeom>
          <a:solidFill>
            <a:srgbClr val="FEF3E8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320040" y="5559552"/>
            <a:ext cx="45720" cy="658368"/>
          </a:xfrm>
          <a:prstGeom prst="rect">
            <a:avLst/>
          </a:prstGeom>
          <a:solidFill>
            <a:srgbClr val="B4530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411480" y="5596128"/>
            <a:ext cx="128016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B4530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存储层</a:t>
            </a:r>
            <a:endParaRPr lang="en-US" sz="1200" b="1" dirty="0">
              <a:solidFill>
                <a:srgbClr val="B45309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46" name="Text 144"/>
          <p:cNvSpPr/>
          <p:nvPr/>
        </p:nvSpPr>
        <p:spPr>
          <a:xfrm>
            <a:off x="411480" y="5833872"/>
            <a:ext cx="1280160" cy="32918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向量 / 全文 / 图谱</a:t>
            </a:r>
            <a:endParaRPr lang="en-US" sz="900" dirty="0">
              <a:solidFill>
                <a:srgbClr val="5D6D7E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47" name="Shape 145"/>
          <p:cNvSpPr/>
          <p:nvPr/>
        </p:nvSpPr>
        <p:spPr>
          <a:xfrm>
            <a:off x="1911096" y="5559552"/>
            <a:ext cx="1958645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1947672" y="5596128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本地 Markdown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49" name="Text 147"/>
          <p:cNvSpPr/>
          <p:nvPr/>
        </p:nvSpPr>
        <p:spPr>
          <a:xfrm>
            <a:off x="1947672" y="5797296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+ 远程 pgvector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50" name="Text 148"/>
          <p:cNvSpPr/>
          <p:nvPr/>
        </p:nvSpPr>
        <p:spPr>
          <a:xfrm>
            <a:off x="1947672" y="5998464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人工可编辑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51" name="Shape 149"/>
          <p:cNvSpPr/>
          <p:nvPr/>
        </p:nvSpPr>
        <p:spPr>
          <a:xfrm>
            <a:off x="3906317" y="5559552"/>
            <a:ext cx="1958645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3942893" y="5596128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pgvector + BM25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53" name="Text 151"/>
          <p:cNvSpPr/>
          <p:nvPr/>
        </p:nvSpPr>
        <p:spPr>
          <a:xfrm>
            <a:off x="3942893" y="5797296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+ sqlite-vec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54" name="Text 152"/>
          <p:cNvSpPr/>
          <p:nvPr/>
        </p:nvSpPr>
        <p:spPr>
          <a:xfrm>
            <a:off x="3942893" y="5998464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RRF+MMR 融合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55" name="Shape 153"/>
          <p:cNvSpPr/>
          <p:nvPr/>
        </p:nvSpPr>
        <p:spPr>
          <a:xfrm>
            <a:off x="5901538" y="5559552"/>
            <a:ext cx="1958645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5938114" y="5596128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PostgreSQL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57" name="Text 155"/>
          <p:cNvSpPr/>
          <p:nvPr/>
        </p:nvSpPr>
        <p:spPr>
          <a:xfrm>
            <a:off x="5938114" y="5797296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+ Append-only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58" name="Text 156"/>
          <p:cNvSpPr/>
          <p:nvPr/>
        </p:nvSpPr>
        <p:spPr>
          <a:xfrm>
            <a:off x="5938114" y="5998464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RBAC 权限隔离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59" name="Shape 157"/>
          <p:cNvSpPr/>
          <p:nvPr/>
        </p:nvSpPr>
        <p:spPr>
          <a:xfrm>
            <a:off x="7896758" y="5559552"/>
            <a:ext cx="1958645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7933334" y="5596128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Redis 共享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61" name="Text 159"/>
          <p:cNvSpPr/>
          <p:nvPr/>
        </p:nvSpPr>
        <p:spPr>
          <a:xfrm>
            <a:off x="7933334" y="5797296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+ PG 持久化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62" name="Text 160"/>
          <p:cNvSpPr/>
          <p:nvPr/>
        </p:nvSpPr>
        <p:spPr>
          <a:xfrm>
            <a:off x="7933334" y="5998464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亚秒级延迟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63" name="Shape 161"/>
          <p:cNvSpPr/>
          <p:nvPr/>
        </p:nvSpPr>
        <p:spPr>
          <a:xfrm>
            <a:off x="9891979" y="5559552"/>
            <a:ext cx="1958645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9928555" y="5596128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pgvector + 图谱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65" name="Text 163"/>
          <p:cNvSpPr/>
          <p:nvPr/>
        </p:nvSpPr>
        <p:spPr>
          <a:xfrm>
            <a:off x="9928555" y="5797296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+ 时间线分区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66" name="Text 164"/>
          <p:cNvSpPr/>
          <p:nvPr/>
        </p:nvSpPr>
        <p:spPr>
          <a:xfrm>
            <a:off x="9928555" y="5998464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情感索引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67" name="Shape 165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1A3A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365760" y="6437376"/>
            <a:ext cx="11457432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统一引擎 + 场景 Preset：编码助手用 Markdown 全量注入，个人助理用精准召回，业务 Agent 用审计存储 — 一套代码，配置差异化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A3A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"/>
            <a:ext cx="10058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高价值</a:t>
            </a:r>
            <a:r>
              <a:rPr lang="en-US" sz="19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垂直场景</a:t>
            </a:r>
            <a:r>
              <a:rPr lang="zh-CN" altLang="en-US" sz="19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举例</a:t>
            </a:r>
            <a:r>
              <a:rPr lang="en-US" sz="19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：面向</a:t>
            </a:r>
            <a:r>
              <a:rPr lang="zh-CN" altLang="en-US" sz="19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不同</a:t>
            </a:r>
            <a:r>
              <a:rPr lang="en-US" sz="19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行业 Agent 的记忆</a:t>
            </a:r>
            <a:r>
              <a:rPr lang="zh-CN" altLang="en-US" sz="19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策略</a:t>
            </a:r>
            <a:endParaRPr lang="zh-CN" altLang="en-US" sz="1900" b="1" dirty="0">
              <a:solidFill>
                <a:srgbClr val="FFFFFF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292608"/>
            <a:ext cx="100584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0C4D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不同 Agent 场景需要不同的记忆类型、衰减策略、Trait 反思焦点和隐私等级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70916" y="658368"/>
            <a:ext cx="3657600" cy="2788920"/>
          </a:xfrm>
          <a:prstGeom prst="roundRect">
            <a:avLst>
              <a:gd name="adj" fmla="val 1967"/>
            </a:avLst>
          </a:prstGeom>
          <a:solidFill>
            <a:srgbClr val="E8F6F3"/>
          </a:solidFill>
          <a:ln w="19050">
            <a:solidFill>
              <a:srgbClr val="0D7C6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0916" y="658368"/>
            <a:ext cx="45720" cy="2788920"/>
          </a:xfrm>
          <a:prstGeom prst="rect">
            <a:avLst/>
          </a:prstGeom>
          <a:solidFill>
            <a:srgbClr val="0D7C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0644" y="3063240"/>
            <a:ext cx="342900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Q-value 信号清晰：满意度评分直接回传</a:t>
            </a:r>
            <a:endParaRPr lang="en-US" sz="1000" i="1" dirty="0">
              <a:solidFill>
                <a:srgbClr val="5D6D7E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80644" y="3246120"/>
            <a:ext cx="3429000" cy="164592"/>
          </a:xfrm>
          <a:prstGeom prst="rect">
            <a:avLst/>
          </a:prstGeom>
          <a:solidFill>
            <a:srgbClr val="0D7C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076" y="3246120"/>
            <a:ext cx="338328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⚡ 预判客户情绪，主动匹配最优解决路径</a:t>
            </a:r>
            <a:endParaRPr lang="en-US" sz="1050" b="1" dirty="0">
              <a:solidFill>
                <a:srgbClr val="FFFFFF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265676" y="658368"/>
            <a:ext cx="3657600" cy="2788920"/>
          </a:xfrm>
          <a:prstGeom prst="roundRect">
            <a:avLst>
              <a:gd name="adj" fmla="val 1967"/>
            </a:avLst>
          </a:prstGeom>
          <a:solidFill>
            <a:srgbClr val="FEF3E8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65676" y="658368"/>
            <a:ext cx="45720" cy="2788920"/>
          </a:xfrm>
          <a:prstGeom prst="rect">
            <a:avLst/>
          </a:prstGeom>
          <a:solidFill>
            <a:srgbClr val="B4530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5404" y="3063240"/>
            <a:ext cx="342900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最强信号：成交/丢单 直接标定记忆价值</a:t>
            </a:r>
            <a:endParaRPr lang="en-US" sz="1000" i="1" dirty="0">
              <a:solidFill>
                <a:srgbClr val="5D6D7E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4375404" y="3246120"/>
            <a:ext cx="3429000" cy="164592"/>
          </a:xfrm>
          <a:prstGeom prst="rect">
            <a:avLst/>
          </a:prstGeom>
          <a:solidFill>
            <a:srgbClr val="B4530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02836" y="3246120"/>
            <a:ext cx="338328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⚡ 记住每个客户的决策链路和沟通风格</a:t>
            </a:r>
            <a:endParaRPr lang="en-US" sz="1050" b="1" dirty="0">
              <a:solidFill>
                <a:srgbClr val="FFFFFF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8060436" y="658368"/>
            <a:ext cx="3657600" cy="2788920"/>
          </a:xfrm>
          <a:prstGeom prst="roundRect">
            <a:avLst>
              <a:gd name="adj" fmla="val 1967"/>
            </a:avLst>
          </a:prstGeom>
          <a:solidFill>
            <a:srgbClr val="F3EDF9"/>
          </a:solidFill>
          <a:ln w="19050">
            <a:solidFill>
              <a:srgbClr val="6B3FA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060436" y="658368"/>
            <a:ext cx="45720" cy="2788920"/>
          </a:xfrm>
          <a:prstGeom prst="rect">
            <a:avLst/>
          </a:prstGeom>
          <a:solidFill>
            <a:srgbClr val="6B3FA0"/>
          </a:solidFill>
          <a:ln w="12700">
            <a:solidFill>
              <a:srgbClr val="333333"/>
            </a:solidFill>
            <a:prstDash val="solid"/>
          </a:ln>
        </p:spPr>
      </p:sp>
      <p:grpSp>
        <p:nvGrpSpPr>
          <p:cNvPr id="98" name="组合 97"/>
          <p:cNvGrpSpPr/>
          <p:nvPr/>
        </p:nvGrpSpPr>
        <p:grpSpPr>
          <a:xfrm>
            <a:off x="580390" y="695016"/>
            <a:ext cx="11018774" cy="3042594"/>
            <a:chOff x="914" y="1094"/>
            <a:chExt cx="17352" cy="3730"/>
          </a:xfrm>
        </p:grpSpPr>
        <p:sp>
          <p:nvSpPr>
            <p:cNvPr id="7" name="Text 5"/>
            <p:cNvSpPr/>
            <p:nvPr/>
          </p:nvSpPr>
          <p:spPr>
            <a:xfrm>
              <a:off x="914" y="1095"/>
              <a:ext cx="5328" cy="374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b="1" dirty="0">
                  <a:solidFill>
                    <a:srgbClr val="0D7C66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🎧  客服 / 售后 Agent</a:t>
              </a:r>
              <a:endParaRPr lang="en-US" b="1" dirty="0">
                <a:solidFill>
                  <a:srgbClr val="0D7C6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8" name="Text 6"/>
            <p:cNvSpPr/>
            <p:nvPr/>
          </p:nvSpPr>
          <p:spPr>
            <a:xfrm>
              <a:off x="914" y="1498"/>
              <a:ext cx="2160" cy="259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0D7C66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Trait 反思焦点</a:t>
              </a:r>
              <a:endParaRPr lang="en-US" sz="1200" b="1" dirty="0">
                <a:solidFill>
                  <a:srgbClr val="0D7C6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9" name="Text 7"/>
            <p:cNvSpPr/>
            <p:nvPr/>
          </p:nvSpPr>
          <p:spPr>
            <a:xfrm>
              <a:off x="914" y="1757"/>
              <a:ext cx="5400" cy="23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2C3E50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• 情绪敏感度（易怒/耐心/焦虑）</a:t>
              </a:r>
              <a:endParaRPr lang="en-US" sz="10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10" name="Text 8"/>
            <p:cNvSpPr/>
            <p:nvPr/>
          </p:nvSpPr>
          <p:spPr>
            <a:xfrm>
              <a:off x="914" y="1987"/>
              <a:ext cx="5400" cy="23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2C3E50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• 偏好渠道（电话 vs 文字 vs 视频）</a:t>
              </a:r>
              <a:endParaRPr lang="en-US" sz="10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11" name="Text 9"/>
            <p:cNvSpPr/>
            <p:nvPr/>
          </p:nvSpPr>
          <p:spPr>
            <a:xfrm>
              <a:off x="914" y="2218"/>
              <a:ext cx="5400" cy="23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2C3E50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• 问题复发模式（同类问题反复出现）</a:t>
              </a:r>
              <a:endParaRPr lang="en-US" sz="10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12" name="Text 10"/>
            <p:cNvSpPr/>
            <p:nvPr/>
          </p:nvSpPr>
          <p:spPr>
            <a:xfrm>
              <a:off x="914" y="2506"/>
              <a:ext cx="2160" cy="259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0D7C66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记忆策略</a:t>
              </a:r>
              <a:endParaRPr lang="en-US" sz="1200" b="1" dirty="0">
                <a:solidFill>
                  <a:srgbClr val="0D7C6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13" name="Text 11"/>
            <p:cNvSpPr/>
            <p:nvPr/>
          </p:nvSpPr>
          <p:spPr>
            <a:xfrm>
              <a:off x="914" y="2765"/>
              <a:ext cx="5400" cy="23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2C3E50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• 投诉历史 + 情绪轨迹时序存储</a:t>
              </a:r>
              <a:endParaRPr lang="en-US" sz="10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14" name="Text 12"/>
            <p:cNvSpPr/>
            <p:nvPr/>
          </p:nvSpPr>
          <p:spPr>
            <a:xfrm>
              <a:off x="914" y="2995"/>
              <a:ext cx="5400" cy="23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2C3E50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• 解决方案效果 Q-value 追踪</a:t>
              </a:r>
              <a:endParaRPr lang="en-US" sz="10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15" name="Text 13"/>
            <p:cNvSpPr/>
            <p:nvPr/>
          </p:nvSpPr>
          <p:spPr>
            <a:xfrm>
              <a:off x="914" y="3226"/>
              <a:ext cx="5400" cy="23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2C3E50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• 满意度趋势 → 自动升级预警</a:t>
              </a:r>
              <a:endParaRPr lang="en-US" sz="10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16" name="Text 14"/>
            <p:cNvSpPr/>
            <p:nvPr/>
          </p:nvSpPr>
          <p:spPr>
            <a:xfrm>
              <a:off x="914" y="4594"/>
              <a:ext cx="5400" cy="23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000" i="1" dirty="0">
                  <a:solidFill>
                    <a:srgbClr val="5D6D7E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快衰减：已解决工单 30 天降权</a:t>
              </a:r>
              <a:endParaRPr lang="en-US" sz="1000" i="1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22" name="Text 20"/>
            <p:cNvSpPr/>
            <p:nvPr/>
          </p:nvSpPr>
          <p:spPr>
            <a:xfrm>
              <a:off x="6890" y="1094"/>
              <a:ext cx="5328" cy="374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b="1" dirty="0">
                  <a:solidFill>
                    <a:srgbClr val="B45309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💼  销售 / CRM Agent</a:t>
              </a:r>
              <a:endParaRPr lang="en-US" b="1" dirty="0">
                <a:solidFill>
                  <a:srgbClr val="B4530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23" name="Text 21"/>
            <p:cNvSpPr/>
            <p:nvPr/>
          </p:nvSpPr>
          <p:spPr>
            <a:xfrm>
              <a:off x="6890" y="1498"/>
              <a:ext cx="2160" cy="259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B45309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Trait 反思焦点</a:t>
              </a:r>
              <a:endParaRPr lang="en-US" sz="1200" b="1" dirty="0">
                <a:solidFill>
                  <a:srgbClr val="B4530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24" name="Text 22"/>
            <p:cNvSpPr/>
            <p:nvPr/>
          </p:nvSpPr>
          <p:spPr>
            <a:xfrm>
              <a:off x="6890" y="1757"/>
              <a:ext cx="5400" cy="23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2C3E50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• 决策风格（数据驱动/关系驱动/价格敏感）</a:t>
              </a:r>
              <a:endParaRPr lang="en-US" sz="10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25" name="Text 23"/>
            <p:cNvSpPr/>
            <p:nvPr/>
          </p:nvSpPr>
          <p:spPr>
            <a:xfrm>
              <a:off x="6890" y="1987"/>
              <a:ext cx="5400" cy="23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2C3E50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• 沟通偏好（简洁直接 vs 详细方案）</a:t>
              </a:r>
              <a:endParaRPr lang="en-US" sz="10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26" name="Text 24"/>
            <p:cNvSpPr/>
            <p:nvPr/>
          </p:nvSpPr>
          <p:spPr>
            <a:xfrm>
              <a:off x="6890" y="2218"/>
              <a:ext cx="5400" cy="23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2C3E50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• 采购周期节奏和关键决策人</a:t>
              </a:r>
              <a:endParaRPr lang="en-US" sz="10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27" name="Text 25"/>
            <p:cNvSpPr/>
            <p:nvPr/>
          </p:nvSpPr>
          <p:spPr>
            <a:xfrm>
              <a:off x="6890" y="2506"/>
              <a:ext cx="2160" cy="259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B45309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记忆策略</a:t>
              </a:r>
              <a:endParaRPr lang="en-US" sz="1200" b="1" dirty="0">
                <a:solidFill>
                  <a:srgbClr val="B4530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28" name="Text 26"/>
            <p:cNvSpPr/>
            <p:nvPr/>
          </p:nvSpPr>
          <p:spPr>
            <a:xfrm>
              <a:off x="6890" y="2765"/>
              <a:ext cx="5400" cy="23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2C3E50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• 客户关系阶段 + 互动时序图谱</a:t>
              </a:r>
              <a:endParaRPr lang="en-US" sz="10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29" name="Text 27"/>
            <p:cNvSpPr/>
            <p:nvPr/>
          </p:nvSpPr>
          <p:spPr>
            <a:xfrm>
              <a:off x="6890" y="2995"/>
              <a:ext cx="5400" cy="23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2C3E50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• 每次接触的成交贡献度评分</a:t>
              </a:r>
              <a:endParaRPr lang="en-US" sz="10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30" name="Text 28"/>
            <p:cNvSpPr/>
            <p:nvPr/>
          </p:nvSpPr>
          <p:spPr>
            <a:xfrm>
              <a:off x="6890" y="3226"/>
              <a:ext cx="5400" cy="23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2C3E50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• 竞品提及记录 + 异议模式</a:t>
              </a:r>
              <a:endParaRPr lang="en-US" sz="10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31" name="Text 29"/>
            <p:cNvSpPr/>
            <p:nvPr/>
          </p:nvSpPr>
          <p:spPr>
            <a:xfrm>
              <a:off x="6890" y="4594"/>
              <a:ext cx="5400" cy="23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000" i="1" dirty="0">
                  <a:solidFill>
                    <a:srgbClr val="5D6D7E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中衰减：活跃商机不衰减，丢单后缓降</a:t>
              </a:r>
              <a:endParaRPr lang="en-US" sz="1000" i="1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37" name="Text 35"/>
            <p:cNvSpPr/>
            <p:nvPr/>
          </p:nvSpPr>
          <p:spPr>
            <a:xfrm>
              <a:off x="12866" y="1094"/>
              <a:ext cx="5328" cy="374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b="1" dirty="0">
                  <a:solidFill>
                    <a:srgbClr val="6B3FA0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📚  教育 / 辅导 Agent</a:t>
              </a:r>
              <a:endParaRPr lang="en-US" b="1" dirty="0">
                <a:solidFill>
                  <a:srgbClr val="6B3FA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38" name="Text 36"/>
            <p:cNvSpPr/>
            <p:nvPr/>
          </p:nvSpPr>
          <p:spPr>
            <a:xfrm>
              <a:off x="12866" y="1498"/>
              <a:ext cx="2160" cy="259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6B3FA0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Trait 反思焦点</a:t>
              </a:r>
              <a:endParaRPr lang="en-US" sz="1200" b="1" dirty="0">
                <a:solidFill>
                  <a:srgbClr val="6B3FA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39" name="Text 37"/>
            <p:cNvSpPr/>
            <p:nvPr/>
          </p:nvSpPr>
          <p:spPr>
            <a:xfrm>
              <a:off x="12866" y="1757"/>
              <a:ext cx="5400" cy="23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2C3E50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• 学习风格（视觉/听觉/实践型）</a:t>
              </a:r>
              <a:endParaRPr lang="en-US" sz="10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40" name="Text 38"/>
            <p:cNvSpPr/>
            <p:nvPr/>
          </p:nvSpPr>
          <p:spPr>
            <a:xfrm>
              <a:off x="12866" y="1987"/>
              <a:ext cx="5400" cy="23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2C3E50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• 知识薄弱区域和进步曲线</a:t>
              </a:r>
              <a:endParaRPr lang="en-US" sz="10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41" name="Text 39"/>
            <p:cNvSpPr/>
            <p:nvPr/>
          </p:nvSpPr>
          <p:spPr>
            <a:xfrm>
              <a:off x="12866" y="2218"/>
              <a:ext cx="5400" cy="23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2C3E50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• 注意力持续时长和最佳学习时段</a:t>
              </a:r>
              <a:endParaRPr lang="en-US" sz="10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42" name="Text 40"/>
            <p:cNvSpPr/>
            <p:nvPr/>
          </p:nvSpPr>
          <p:spPr>
            <a:xfrm>
              <a:off x="12866" y="2506"/>
              <a:ext cx="2160" cy="259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6B3FA0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记忆策略</a:t>
              </a:r>
              <a:endParaRPr lang="en-US" sz="1200" b="1" dirty="0">
                <a:solidFill>
                  <a:srgbClr val="6B3FA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43" name="Text 41"/>
            <p:cNvSpPr/>
            <p:nvPr/>
          </p:nvSpPr>
          <p:spPr>
            <a:xfrm>
              <a:off x="12866" y="2765"/>
              <a:ext cx="5400" cy="23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2C3E50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• 知识点掌握度矩阵（已会/模糊/未学）</a:t>
              </a:r>
              <a:endParaRPr lang="en-US" sz="10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44" name="Text 42"/>
            <p:cNvSpPr/>
            <p:nvPr/>
          </p:nvSpPr>
          <p:spPr>
            <a:xfrm>
              <a:off x="12866" y="2995"/>
              <a:ext cx="5400" cy="23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2C3E50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• 不同教学策略效果对比</a:t>
              </a:r>
              <a:endParaRPr lang="en-US" sz="10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45" name="Text 43"/>
            <p:cNvSpPr/>
            <p:nvPr/>
          </p:nvSpPr>
          <p:spPr>
            <a:xfrm>
              <a:off x="12866" y="3226"/>
              <a:ext cx="5400" cy="23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2C3E50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• 错题模式 + 易混淆概念图谱</a:t>
              </a:r>
              <a:endParaRPr lang="en-US" sz="10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46" name="Text 44"/>
            <p:cNvSpPr/>
            <p:nvPr/>
          </p:nvSpPr>
          <p:spPr>
            <a:xfrm>
              <a:off x="12866" y="4594"/>
              <a:ext cx="5400" cy="23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000" i="1" dirty="0">
                  <a:solidFill>
                    <a:srgbClr val="5D6D7E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不衰减：知识掌握状态持久跟踪</a:t>
              </a:r>
              <a:endParaRPr lang="en-US" sz="1000" i="1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</p:grpSp>
      <p:sp>
        <p:nvSpPr>
          <p:cNvPr id="47" name="Text 45"/>
          <p:cNvSpPr/>
          <p:nvPr/>
        </p:nvSpPr>
        <p:spPr>
          <a:xfrm>
            <a:off x="8170164" y="3063240"/>
            <a:ext cx="342900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测试成绩/答题正确率回传 Q-value</a:t>
            </a:r>
            <a:endParaRPr lang="en-US" sz="1000" i="1" dirty="0">
              <a:solidFill>
                <a:srgbClr val="5D6D7E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8170164" y="3246120"/>
            <a:ext cx="3429000" cy="164592"/>
          </a:xfrm>
          <a:prstGeom prst="rect">
            <a:avLst/>
          </a:prstGeom>
          <a:solidFill>
            <a:srgbClr val="6B3F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197596" y="3246120"/>
            <a:ext cx="338328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⚡ 多分支试错：A/B 对比教学策略效果</a:t>
            </a:r>
            <a:endParaRPr lang="en-US" sz="1050" b="1" dirty="0">
              <a:solidFill>
                <a:srgbClr val="FFFFFF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470916" y="3557016"/>
            <a:ext cx="3657600" cy="2788920"/>
          </a:xfrm>
          <a:prstGeom prst="roundRect">
            <a:avLst>
              <a:gd name="adj" fmla="val 1967"/>
            </a:avLst>
          </a:prstGeom>
          <a:solidFill>
            <a:srgbClr val="FDEDEC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0916" y="3557016"/>
            <a:ext cx="45720" cy="2788920"/>
          </a:xfrm>
          <a:prstGeom prst="rect">
            <a:avLst/>
          </a:prstGeom>
          <a:solidFill>
            <a:srgbClr val="C03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80644" y="5815584"/>
            <a:ext cx="342900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永不衰减：医疗记录必须完整保留</a:t>
            </a:r>
            <a:endParaRPr lang="en-US" sz="1000" i="1" dirty="0">
              <a:solidFill>
                <a:srgbClr val="5D6D7E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580644" y="5961888"/>
            <a:ext cx="342900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治疗效果反馈 → 方案推荐排序</a:t>
            </a:r>
            <a:endParaRPr lang="en-US" sz="1000" i="1" dirty="0">
              <a:solidFill>
                <a:srgbClr val="5D6D7E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580644" y="6144768"/>
            <a:ext cx="3429000" cy="164592"/>
          </a:xfrm>
          <a:prstGeom prst="rect">
            <a:avLst/>
          </a:prstGeom>
          <a:solidFill>
            <a:srgbClr val="C03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08076" y="6144768"/>
            <a:ext cx="338328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⚡ Append-only 审计轨迹，满足合规要求</a:t>
            </a:r>
            <a:endParaRPr lang="en-US" sz="1050" b="1" dirty="0">
              <a:solidFill>
                <a:srgbClr val="FFFFFF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65" name="Shape 63"/>
          <p:cNvSpPr/>
          <p:nvPr/>
        </p:nvSpPr>
        <p:spPr>
          <a:xfrm>
            <a:off x="4265676" y="3557016"/>
            <a:ext cx="3657600" cy="2788920"/>
          </a:xfrm>
          <a:prstGeom prst="roundRect">
            <a:avLst>
              <a:gd name="adj" fmla="val 1967"/>
            </a:avLst>
          </a:prstGeom>
          <a:solidFill>
            <a:srgbClr val="EAF0F5"/>
          </a:solidFill>
          <a:ln w="19050">
            <a:solidFill>
              <a:srgbClr val="1A527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265676" y="3557016"/>
            <a:ext cx="45720" cy="2788920"/>
          </a:xfrm>
          <a:prstGeom prst="rect">
            <a:avLst/>
          </a:prstGeom>
          <a:solidFill>
            <a:srgbClr val="1A52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375404" y="5815584"/>
            <a:ext cx="342900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超长保留：法律记忆 5-10 年有效</a:t>
            </a:r>
            <a:endParaRPr lang="en-US" sz="1000" i="1" dirty="0">
              <a:solidFill>
                <a:srgbClr val="5D6D7E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77" name="Text 75"/>
          <p:cNvSpPr/>
          <p:nvPr/>
        </p:nvSpPr>
        <p:spPr>
          <a:xfrm>
            <a:off x="4375404" y="5961888"/>
            <a:ext cx="342900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案件结果（胜/败/和解）标定策略价值</a:t>
            </a:r>
            <a:endParaRPr lang="en-US" sz="1000" i="1" dirty="0">
              <a:solidFill>
                <a:srgbClr val="5D6D7E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78" name="Shape 76"/>
          <p:cNvSpPr/>
          <p:nvPr/>
        </p:nvSpPr>
        <p:spPr>
          <a:xfrm>
            <a:off x="4375404" y="6144768"/>
            <a:ext cx="3429000" cy="164592"/>
          </a:xfrm>
          <a:prstGeom prst="rect">
            <a:avLst/>
          </a:prstGeom>
          <a:solidFill>
            <a:srgbClr val="1A52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402836" y="6144768"/>
            <a:ext cx="338328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⚡ 时间旅行查询：还原任意时点的法规状态</a:t>
            </a:r>
            <a:endParaRPr lang="en-US" sz="1050" b="1" dirty="0">
              <a:solidFill>
                <a:srgbClr val="FFFFFF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80" name="Shape 78"/>
          <p:cNvSpPr/>
          <p:nvPr/>
        </p:nvSpPr>
        <p:spPr>
          <a:xfrm>
            <a:off x="8060436" y="3557016"/>
            <a:ext cx="3657600" cy="2788920"/>
          </a:xfrm>
          <a:prstGeom prst="roundRect">
            <a:avLst>
              <a:gd name="adj" fmla="val 1967"/>
            </a:avLst>
          </a:prstGeom>
          <a:solidFill>
            <a:srgbClr val="FDF9E8"/>
          </a:solidFill>
          <a:ln w="19050">
            <a:solidFill>
              <a:srgbClr val="7D6608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060436" y="3557016"/>
            <a:ext cx="45720" cy="2788920"/>
          </a:xfrm>
          <a:prstGeom prst="rect">
            <a:avLst/>
          </a:prstGeom>
          <a:solidFill>
            <a:srgbClr val="7D6608"/>
          </a:solidFill>
          <a:ln w="12700">
            <a:solidFill>
              <a:srgbClr val="333333"/>
            </a:solidFill>
            <a:prstDash val="solid"/>
          </a:ln>
        </p:spPr>
      </p:sp>
      <p:grpSp>
        <p:nvGrpSpPr>
          <p:cNvPr id="99" name="组合 98"/>
          <p:cNvGrpSpPr/>
          <p:nvPr/>
        </p:nvGrpSpPr>
        <p:grpSpPr>
          <a:xfrm>
            <a:off x="580390" y="3593465"/>
            <a:ext cx="11018520" cy="1999615"/>
            <a:chOff x="914" y="5659"/>
            <a:chExt cx="17352" cy="2361"/>
          </a:xfrm>
        </p:grpSpPr>
        <p:sp>
          <p:nvSpPr>
            <p:cNvPr id="52" name="Text 50"/>
            <p:cNvSpPr/>
            <p:nvPr/>
          </p:nvSpPr>
          <p:spPr>
            <a:xfrm>
              <a:off x="914" y="5659"/>
              <a:ext cx="5328" cy="374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b="1" dirty="0">
                  <a:solidFill>
                    <a:srgbClr val="C0392B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🏥  医疗健康 Agent</a:t>
              </a:r>
              <a:endParaRPr lang="en-US" b="1" dirty="0">
                <a:solidFill>
                  <a:srgbClr val="C0392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53" name="Text 51"/>
            <p:cNvSpPr/>
            <p:nvPr/>
          </p:nvSpPr>
          <p:spPr>
            <a:xfrm>
              <a:off x="914" y="6062"/>
              <a:ext cx="2160" cy="259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C0392B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Trait 反思焦点</a:t>
              </a:r>
              <a:endParaRPr lang="en-US" sz="1200" b="1" dirty="0">
                <a:solidFill>
                  <a:srgbClr val="C0392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54" name="Text 52"/>
            <p:cNvSpPr/>
            <p:nvPr/>
          </p:nvSpPr>
          <p:spPr>
            <a:xfrm>
              <a:off x="914" y="6322"/>
              <a:ext cx="5400" cy="23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2C3E50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• 症状描述习惯（精确 vs 模糊）</a:t>
              </a:r>
              <a:endParaRPr lang="en-US" sz="10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55" name="Text 53"/>
            <p:cNvSpPr/>
            <p:nvPr/>
          </p:nvSpPr>
          <p:spPr>
            <a:xfrm>
              <a:off x="914" y="6552"/>
              <a:ext cx="5400" cy="23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2C3E50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• 治疗依从性模式</a:t>
              </a:r>
              <a:endParaRPr lang="en-US" sz="10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56" name="Text 54"/>
            <p:cNvSpPr/>
            <p:nvPr/>
          </p:nvSpPr>
          <p:spPr>
            <a:xfrm>
              <a:off x="914" y="6782"/>
              <a:ext cx="5400" cy="23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2C3E50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• 健康焦虑程度和信息需求层次</a:t>
              </a:r>
              <a:endParaRPr lang="en-US" sz="10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57" name="Text 55"/>
            <p:cNvSpPr/>
            <p:nvPr/>
          </p:nvSpPr>
          <p:spPr>
            <a:xfrm>
              <a:off x="914" y="7070"/>
              <a:ext cx="2160" cy="259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C0392B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记忆策略</a:t>
              </a:r>
              <a:endParaRPr lang="en-US" sz="1200" b="1" dirty="0">
                <a:solidFill>
                  <a:srgbClr val="C0392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58" name="Text 56"/>
            <p:cNvSpPr/>
            <p:nvPr/>
          </p:nvSpPr>
          <p:spPr>
            <a:xfrm>
              <a:off x="914" y="7330"/>
              <a:ext cx="5400" cy="23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2C3E50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• 症状时序链 + 用药记录不可变存储</a:t>
              </a:r>
              <a:endParaRPr lang="en-US" sz="10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59" name="Text 57"/>
            <p:cNvSpPr/>
            <p:nvPr/>
          </p:nvSpPr>
          <p:spPr>
            <a:xfrm>
              <a:off x="914" y="7560"/>
              <a:ext cx="5400" cy="23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2C3E50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• 体征指标趋势（结构化存储）</a:t>
              </a:r>
              <a:endParaRPr lang="en-US" sz="10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60" name="Text 58"/>
            <p:cNvSpPr/>
            <p:nvPr/>
          </p:nvSpPr>
          <p:spPr>
            <a:xfrm>
              <a:off x="914" y="7790"/>
              <a:ext cx="5400" cy="23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2C3E50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• 就诊记录 + 医嘱追踪 + 随访提醒</a:t>
              </a:r>
              <a:endParaRPr lang="en-US" sz="10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67" name="Text 65"/>
            <p:cNvSpPr/>
            <p:nvPr/>
          </p:nvSpPr>
          <p:spPr>
            <a:xfrm>
              <a:off x="6890" y="5659"/>
              <a:ext cx="5328" cy="374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b="1" dirty="0">
                  <a:solidFill>
                    <a:srgbClr val="1A5276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⚖️  法律 / 合规 Agent</a:t>
              </a:r>
              <a:endParaRPr lang="en-US" b="1" dirty="0">
                <a:solidFill>
                  <a:srgbClr val="1A527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68" name="Text 66"/>
            <p:cNvSpPr/>
            <p:nvPr/>
          </p:nvSpPr>
          <p:spPr>
            <a:xfrm>
              <a:off x="6890" y="6062"/>
              <a:ext cx="2160" cy="259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1A5276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Trait 反思焦点</a:t>
              </a:r>
              <a:endParaRPr lang="en-US" sz="1200" b="1" dirty="0">
                <a:solidFill>
                  <a:srgbClr val="1A527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69" name="Text 67"/>
            <p:cNvSpPr/>
            <p:nvPr/>
          </p:nvSpPr>
          <p:spPr>
            <a:xfrm>
              <a:off x="6890" y="6322"/>
              <a:ext cx="5400" cy="23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2C3E50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• 风险偏好（保守/激进）</a:t>
              </a:r>
              <a:endParaRPr lang="en-US" sz="10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70" name="Text 68"/>
            <p:cNvSpPr/>
            <p:nvPr/>
          </p:nvSpPr>
          <p:spPr>
            <a:xfrm>
              <a:off x="6890" y="6552"/>
              <a:ext cx="5400" cy="23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2C3E50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• 关注的合规领域和法规版本</a:t>
              </a:r>
              <a:endParaRPr lang="en-US" sz="10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71" name="Text 69"/>
            <p:cNvSpPr/>
            <p:nvPr/>
          </p:nvSpPr>
          <p:spPr>
            <a:xfrm>
              <a:off x="6890" y="6782"/>
              <a:ext cx="5400" cy="23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2C3E50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• 案件处理模式和论证风格</a:t>
              </a:r>
              <a:endParaRPr lang="en-US" sz="10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72" name="Text 70"/>
            <p:cNvSpPr/>
            <p:nvPr/>
          </p:nvSpPr>
          <p:spPr>
            <a:xfrm>
              <a:off x="6890" y="7070"/>
              <a:ext cx="2160" cy="259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1A5276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记忆策略</a:t>
              </a:r>
              <a:endParaRPr lang="en-US" sz="1200" b="1" dirty="0">
                <a:solidFill>
                  <a:srgbClr val="1A527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73" name="Text 71"/>
            <p:cNvSpPr/>
            <p:nvPr/>
          </p:nvSpPr>
          <p:spPr>
            <a:xfrm>
              <a:off x="6890" y="7330"/>
              <a:ext cx="5400" cy="23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2C3E50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• 案例先例图谱 + 判例关联</a:t>
              </a:r>
              <a:endParaRPr lang="en-US" sz="10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74" name="Text 72"/>
            <p:cNvSpPr/>
            <p:nvPr/>
          </p:nvSpPr>
          <p:spPr>
            <a:xfrm>
              <a:off x="6890" y="7560"/>
              <a:ext cx="5400" cy="23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2C3E50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• 法规变更时间线（版本化追踪）</a:t>
              </a:r>
              <a:endParaRPr lang="en-US" sz="10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75" name="Text 73"/>
            <p:cNvSpPr/>
            <p:nvPr/>
          </p:nvSpPr>
          <p:spPr>
            <a:xfrm>
              <a:off x="6890" y="7790"/>
              <a:ext cx="5400" cy="23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2C3E50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• 合同条款模式库 + 风险评估历史</a:t>
              </a:r>
              <a:endParaRPr lang="en-US" sz="10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82" name="Text 80"/>
            <p:cNvSpPr/>
            <p:nvPr/>
          </p:nvSpPr>
          <p:spPr>
            <a:xfrm>
              <a:off x="12866" y="5659"/>
              <a:ext cx="5328" cy="374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b="1" dirty="0">
                  <a:solidFill>
                    <a:srgbClr val="7D6608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🔬  研究 / 分析 Agent</a:t>
              </a:r>
              <a:endParaRPr lang="en-US" b="1" dirty="0">
                <a:solidFill>
                  <a:srgbClr val="7D660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83" name="Text 81"/>
            <p:cNvSpPr/>
            <p:nvPr/>
          </p:nvSpPr>
          <p:spPr>
            <a:xfrm>
              <a:off x="12866" y="6062"/>
              <a:ext cx="2160" cy="259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7D6608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Trait 反思焦点</a:t>
              </a:r>
              <a:endParaRPr lang="en-US" sz="1200" b="1" dirty="0">
                <a:solidFill>
                  <a:srgbClr val="7D660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84" name="Text 82"/>
            <p:cNvSpPr/>
            <p:nvPr/>
          </p:nvSpPr>
          <p:spPr>
            <a:xfrm>
              <a:off x="12866" y="6322"/>
              <a:ext cx="5400" cy="23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2C3E50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• 研究方法论偏好（定量 vs 定性）</a:t>
              </a:r>
              <a:endParaRPr lang="en-US" sz="10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85" name="Text 83"/>
            <p:cNvSpPr/>
            <p:nvPr/>
          </p:nvSpPr>
          <p:spPr>
            <a:xfrm>
              <a:off x="12866" y="6552"/>
              <a:ext cx="5400" cy="23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2C3E50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• 信息源可信度评估标准</a:t>
              </a:r>
              <a:endParaRPr lang="en-US" sz="10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86" name="Text 84"/>
            <p:cNvSpPr/>
            <p:nvPr/>
          </p:nvSpPr>
          <p:spPr>
            <a:xfrm>
              <a:off x="12866" y="6782"/>
              <a:ext cx="5400" cy="23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2C3E50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• 论证推理风格和引用习惯</a:t>
              </a:r>
              <a:endParaRPr lang="en-US" sz="10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87" name="Text 85"/>
            <p:cNvSpPr/>
            <p:nvPr/>
          </p:nvSpPr>
          <p:spPr>
            <a:xfrm>
              <a:off x="12866" y="7070"/>
              <a:ext cx="2160" cy="259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7D6608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记忆策略</a:t>
              </a:r>
              <a:endParaRPr lang="en-US" sz="1200" b="1" dirty="0">
                <a:solidFill>
                  <a:srgbClr val="7D660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88" name="Text 86"/>
            <p:cNvSpPr/>
            <p:nvPr/>
          </p:nvSpPr>
          <p:spPr>
            <a:xfrm>
              <a:off x="12866" y="7330"/>
              <a:ext cx="5400" cy="23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2C3E50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• 论点演化链 + 来源溯源图谱</a:t>
              </a:r>
              <a:endParaRPr lang="en-US" sz="10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89" name="Text 87"/>
            <p:cNvSpPr/>
            <p:nvPr/>
          </p:nvSpPr>
          <p:spPr>
            <a:xfrm>
              <a:off x="12866" y="7560"/>
              <a:ext cx="5400" cy="23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2C3E50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• 假设验证轨迹（支持/反驳证据）</a:t>
              </a:r>
              <a:endParaRPr lang="en-US" sz="10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90" name="Text 88"/>
            <p:cNvSpPr/>
            <p:nvPr/>
          </p:nvSpPr>
          <p:spPr>
            <a:xfrm>
              <a:off x="12866" y="7790"/>
              <a:ext cx="5400" cy="23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2C3E50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• 矛盾检测 + 知识更新时间线</a:t>
              </a:r>
              <a:endParaRPr lang="en-US" sz="10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</p:grpSp>
      <p:sp>
        <p:nvSpPr>
          <p:cNvPr id="91" name="Text 89"/>
          <p:cNvSpPr/>
          <p:nvPr/>
        </p:nvSpPr>
        <p:spPr>
          <a:xfrm>
            <a:off x="8170164" y="5815584"/>
            <a:ext cx="342900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慢衰减：研究结论长期有效，数据时效性标注</a:t>
            </a:r>
            <a:endParaRPr lang="en-US" sz="1000" i="1" dirty="0">
              <a:solidFill>
                <a:srgbClr val="5D6D7E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92" name="Text 90"/>
          <p:cNvSpPr/>
          <p:nvPr/>
        </p:nvSpPr>
        <p:spPr>
          <a:xfrm>
            <a:off x="8170164" y="5961888"/>
            <a:ext cx="342900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引用被采纳/驳回 → 来源可信度调整</a:t>
            </a:r>
            <a:endParaRPr lang="en-US" sz="1000" i="1" dirty="0">
              <a:solidFill>
                <a:srgbClr val="5D6D7E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93" name="Shape 91"/>
          <p:cNvSpPr/>
          <p:nvPr/>
        </p:nvSpPr>
        <p:spPr>
          <a:xfrm>
            <a:off x="8170164" y="6144768"/>
            <a:ext cx="3429000" cy="164592"/>
          </a:xfrm>
          <a:prstGeom prst="rect">
            <a:avLst/>
          </a:prstGeom>
          <a:solidFill>
            <a:srgbClr val="7D660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8197596" y="6144768"/>
            <a:ext cx="338328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⚡ 知识图谱深度关联，自动发现矛盾和空白</a:t>
            </a:r>
            <a:endParaRPr lang="en-US" sz="1050" b="1" dirty="0">
              <a:solidFill>
                <a:srgbClr val="FFFFFF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95" name="Shape 93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1A3A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365760" y="6382512"/>
            <a:ext cx="11457432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统一平台 · 场景化 Preset：同一套 Trait 反思 + Q-value + 飞轮引擎，通过场景 Preset 配置差异化的记忆类型、衰减策略、隐私等级和 Q-value 信号源</a:t>
            </a:r>
            <a:endParaRPr lang="en-US" sz="1100" dirty="0"/>
          </a:p>
        </p:txBody>
      </p:sp>
      <p:sp>
        <p:nvSpPr>
          <p:cNvPr id="97" name="Text 95"/>
          <p:cNvSpPr/>
          <p:nvPr/>
        </p:nvSpPr>
        <p:spPr>
          <a:xfrm>
            <a:off x="365760" y="6583680"/>
            <a:ext cx="11457432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0C4D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每个垂直场景都是独立的数据飞轮 — 场景越深耕，记忆越精准，竞品越难追赶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30352"/>
          </a:xfrm>
          <a:prstGeom prst="rect">
            <a:avLst/>
          </a:prstGeom>
          <a:solidFill>
            <a:srgbClr val="1A3A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10058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关键技术</a:t>
            </a:r>
            <a:r>
              <a:rPr lang="en-US" altLang="zh-CN" sz="19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</a:t>
            </a:r>
            <a:r>
              <a:rPr lang="zh-CN" altLang="en-US" sz="19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：</a:t>
            </a:r>
            <a:r>
              <a:rPr lang="en-US" sz="19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语义</a:t>
            </a:r>
            <a:r>
              <a:rPr lang="zh-CN" altLang="en-US" sz="19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化、</a:t>
            </a:r>
            <a:r>
              <a:rPr lang="en-US" sz="19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结构化</a:t>
            </a:r>
            <a:r>
              <a:rPr lang="zh-CN" altLang="en-US" sz="19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的记忆组织层</a:t>
            </a:r>
            <a:r>
              <a:rPr lang="zh-CN" altLang="en-US" sz="1900" b="1" dirty="0">
                <a:solidFill>
                  <a:srgbClr val="FFFFFF"/>
                </a:solidFill>
                <a:latin typeface="Arial" panose="020B0604020202090204" pitchFamily="34" charset="0"/>
                <a:ea typeface="宋体" charset="0"/>
                <a:cs typeface="Arial" panose="020B0604020202090204" pitchFamily="34" charset="-120"/>
              </a:rPr>
              <a:t>，</a:t>
            </a:r>
            <a:r>
              <a:rPr lang="en-US" sz="19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从碎片文本到知识图谱+</a:t>
            </a:r>
            <a:r>
              <a:rPr lang="zh-CN" altLang="en-US" sz="19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向量</a:t>
            </a:r>
            <a:r>
              <a:rPr lang="zh-CN" altLang="en-US" sz="19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融合</a:t>
            </a:r>
            <a:endParaRPr lang="zh-CN" altLang="en-US" sz="1900" b="1" dirty="0">
              <a:solidFill>
                <a:srgbClr val="FFFFFF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109728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0C4D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通过注入时增强 + 定期反思整理，让记忆形成语义网络，支撑 Agent 高质量召回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82880" y="621792"/>
            <a:ext cx="11823192" cy="2606040"/>
          </a:xfrm>
          <a:prstGeom prst="roundRect">
            <a:avLst>
              <a:gd name="adj" fmla="val 3509"/>
            </a:avLst>
          </a:prstGeom>
          <a:solidFill>
            <a:srgbClr val="FAFBFD"/>
          </a:solidFill>
          <a:ln w="12700">
            <a:solidFill>
              <a:srgbClr val="DEE5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658368"/>
            <a:ext cx="27432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A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注入时结构化流水线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0" y="676656"/>
            <a:ext cx="45720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每条对话进入记忆前，经过 4 步语义增强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969264"/>
            <a:ext cx="2606040" cy="2029968"/>
          </a:xfrm>
          <a:prstGeom prst="roundRect">
            <a:avLst>
              <a:gd name="adj" fmla="val 3604"/>
            </a:avLst>
          </a:prstGeom>
          <a:solidFill>
            <a:srgbClr val="E3F0FF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8912" y="1024128"/>
            <a:ext cx="256032" cy="256032"/>
          </a:xfrm>
          <a:prstGeom prst="ellipse">
            <a:avLst/>
          </a:prstGeom>
          <a:solidFill>
            <a:srgbClr val="1565C0"/>
          </a:solidFill>
        </p:spPr>
      </p:sp>
      <p:sp>
        <p:nvSpPr>
          <p:cNvPr id="10" name="Text 8"/>
          <p:cNvSpPr/>
          <p:nvPr/>
        </p:nvSpPr>
        <p:spPr>
          <a:xfrm>
            <a:off x="438912" y="1024128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49808" y="1024128"/>
            <a:ext cx="21031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565C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滑动窗口 + 代词消解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1353312"/>
            <a:ext cx="242316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371600"/>
            <a:ext cx="45720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C0392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原文：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914400" y="1371600"/>
            <a:ext cx="182880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"她讨厌那个框架"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57200" y="1554480"/>
            <a:ext cx="242316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565C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▼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1719072"/>
            <a:ext cx="45720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D7C6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增强：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914400" y="1719072"/>
            <a:ext cx="182880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D7C6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"Alice 讨厌 React 框架"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57200" y="2103120"/>
            <a:ext cx="242316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上下文窗口回溯 5 轮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57200" y="2286000"/>
            <a:ext cx="242316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消解代词、补全省略实体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" y="2468880"/>
            <a:ext cx="242316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注入用户属性（职业等）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7200" y="2706624"/>
            <a:ext cx="1371600" cy="201168"/>
          </a:xfrm>
          <a:prstGeom prst="roundRect">
            <a:avLst>
              <a:gd name="adj" fmla="val 13636"/>
            </a:avLst>
          </a:prstGeom>
          <a:solidFill>
            <a:srgbClr val="1565C0"/>
          </a:solidFill>
        </p:spPr>
      </p:sp>
      <p:sp>
        <p:nvSpPr>
          <p:cNvPr id="22" name="Text 20"/>
          <p:cNvSpPr/>
          <p:nvPr/>
        </p:nvSpPr>
        <p:spPr>
          <a:xfrm>
            <a:off x="457200" y="2706624"/>
            <a:ext cx="13716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参考 HydraDB f_θ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008376" y="1984248"/>
            <a:ext cx="128016" cy="914"/>
          </a:xfrm>
          <a:prstGeom prst="line">
            <a:avLst/>
          </a:prstGeom>
          <a:noFill/>
          <a:ln w="31750">
            <a:solidFill>
              <a:srgbClr val="1565C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172968" y="969264"/>
            <a:ext cx="2606040" cy="2029968"/>
          </a:xfrm>
          <a:prstGeom prst="roundRect">
            <a:avLst>
              <a:gd name="adj" fmla="val 3604"/>
            </a:avLst>
          </a:prstGeom>
          <a:solidFill>
            <a:srgbClr val="E8F6F3"/>
          </a:solidFill>
          <a:ln w="19050">
            <a:solidFill>
              <a:srgbClr val="0D7C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46120" y="1024128"/>
            <a:ext cx="256032" cy="256032"/>
          </a:xfrm>
          <a:prstGeom prst="ellipse">
            <a:avLst/>
          </a:prstGeom>
          <a:solidFill>
            <a:srgbClr val="0D7C66"/>
          </a:solidFill>
        </p:spPr>
      </p:sp>
      <p:sp>
        <p:nvSpPr>
          <p:cNvPr id="26" name="Text 24"/>
          <p:cNvSpPr/>
          <p:nvPr/>
        </p:nvSpPr>
        <p:spPr>
          <a:xfrm>
            <a:off x="3246120" y="1024128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557016" y="1024128"/>
            <a:ext cx="21031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D7C6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实体抽取 + 关系图谱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64408" y="1353312"/>
            <a:ext cx="242316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55848" y="1389888"/>
            <a:ext cx="21945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D7C6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Alice ——WORKS_AT——▶ Meta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355848" y="1572768"/>
            <a:ext cx="21945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C0392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Alice ——DISLIKES——▶ React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355848" y="1755648"/>
            <a:ext cx="21945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Meta  ——USES———▶ React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264408" y="2103120"/>
            <a:ext cx="242316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自动提取实体和关系三元组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264408" y="2286000"/>
            <a:ext cx="242316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20+ 关系类型分类标注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264408" y="2468880"/>
            <a:ext cx="242316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双向实体查询索引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264408" y="2706624"/>
            <a:ext cx="1645920" cy="201168"/>
          </a:xfrm>
          <a:prstGeom prst="roundRect">
            <a:avLst>
              <a:gd name="adj" fmla="val 13636"/>
            </a:avLst>
          </a:prstGeom>
          <a:solidFill>
            <a:srgbClr val="0D7C66"/>
          </a:solidFill>
        </p:spPr>
      </p:sp>
      <p:sp>
        <p:nvSpPr>
          <p:cNvPr id="36" name="Text 34"/>
          <p:cNvSpPr/>
          <p:nvPr/>
        </p:nvSpPr>
        <p:spPr>
          <a:xfrm>
            <a:off x="3264408" y="2706624"/>
            <a:ext cx="16459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参考 Supermemory Graph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5815584" y="1984248"/>
            <a:ext cx="128016" cy="914"/>
          </a:xfrm>
          <a:prstGeom prst="line">
            <a:avLst/>
          </a:prstGeom>
          <a:noFill/>
          <a:ln w="31750">
            <a:solidFill>
              <a:srgbClr val="0D7C66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5980176" y="969264"/>
            <a:ext cx="2606040" cy="2029968"/>
          </a:xfrm>
          <a:prstGeom prst="roundRect">
            <a:avLst>
              <a:gd name="adj" fmla="val 3604"/>
            </a:avLst>
          </a:prstGeom>
          <a:solidFill>
            <a:srgbClr val="FEF3E8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53328" y="1024128"/>
            <a:ext cx="256032" cy="256032"/>
          </a:xfrm>
          <a:prstGeom prst="ellipse">
            <a:avLst/>
          </a:prstGeom>
          <a:solidFill>
            <a:srgbClr val="B45309"/>
          </a:solidFill>
        </p:spPr>
      </p:sp>
      <p:sp>
        <p:nvSpPr>
          <p:cNvPr id="40" name="Text 38"/>
          <p:cNvSpPr/>
          <p:nvPr/>
        </p:nvSpPr>
        <p:spPr>
          <a:xfrm>
            <a:off x="6053328" y="1024128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364224" y="1024128"/>
            <a:ext cx="21031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B4530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多向量存储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071616" y="1371600"/>
            <a:ext cx="24231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565C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v_content  原文向量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071616" y="1536192"/>
            <a:ext cx="242316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直接语义匹配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071616" y="1737360"/>
            <a:ext cx="24231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D7C6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v_inferred  增强向量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071616" y="1901952"/>
            <a:ext cx="242316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捕获代词消解后的隐含语义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071616" y="2103120"/>
            <a:ext cx="24231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B3FA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v_sparse  BM25 特征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071616" y="2267712"/>
            <a:ext cx="242316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关键词精确匹配（罕见词不丢失）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071616" y="2505456"/>
            <a:ext cx="242316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B4530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三路融合：S = α·content + β·inferred + γ·BM25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071616" y="2706624"/>
            <a:ext cx="1463040" cy="201168"/>
          </a:xfrm>
          <a:prstGeom prst="roundRect">
            <a:avLst>
              <a:gd name="adj" fmla="val 13636"/>
            </a:avLst>
          </a:prstGeom>
          <a:solidFill>
            <a:srgbClr val="B45309"/>
          </a:solidFill>
        </p:spPr>
      </p:sp>
      <p:sp>
        <p:nvSpPr>
          <p:cNvPr id="50" name="Text 48"/>
          <p:cNvSpPr/>
          <p:nvPr/>
        </p:nvSpPr>
        <p:spPr>
          <a:xfrm>
            <a:off x="6071616" y="2706624"/>
            <a:ext cx="14630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参考 HydraDB 三路检索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8622792" y="1984248"/>
            <a:ext cx="128016" cy="914"/>
          </a:xfrm>
          <a:prstGeom prst="line">
            <a:avLst/>
          </a:prstGeom>
          <a:noFill/>
          <a:ln w="31750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8787384" y="969264"/>
            <a:ext cx="2606040" cy="2029968"/>
          </a:xfrm>
          <a:prstGeom prst="roundRect">
            <a:avLst>
              <a:gd name="adj" fmla="val 3604"/>
            </a:avLst>
          </a:prstGeom>
          <a:solidFill>
            <a:srgbClr val="F3EDF9"/>
          </a:solidFill>
          <a:ln w="19050">
            <a:solidFill>
              <a:srgbClr val="6B3FA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860536" y="1024128"/>
            <a:ext cx="256032" cy="256032"/>
          </a:xfrm>
          <a:prstGeom prst="ellipse">
            <a:avLst/>
          </a:prstGeom>
          <a:solidFill>
            <a:srgbClr val="6B3FA0"/>
          </a:solidFill>
        </p:spPr>
      </p:sp>
      <p:sp>
        <p:nvSpPr>
          <p:cNvPr id="54" name="Text 52"/>
          <p:cNvSpPr/>
          <p:nvPr/>
        </p:nvSpPr>
        <p:spPr>
          <a:xfrm>
            <a:off x="8860536" y="1024128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4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9171432" y="1024128"/>
            <a:ext cx="21031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6B3FA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Append-only 版本化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8878824" y="1353312"/>
            <a:ext cx="242316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970264" y="1389888"/>
            <a:ext cx="21945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2024.3  LIVES_IN: NYC (startup)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8970264" y="1572768"/>
            <a:ext cx="21945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3FA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2024.9  LIVES_IN: London (Meta)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8970264" y="1755648"/>
            <a:ext cx="21945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6B3FA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2025.1  PREFERS: Vue → React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8878824" y="2103120"/>
            <a:ext cx="242316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不覆盖旧值，只追加新版本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8878824" y="2286000"/>
            <a:ext cx="242316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每条变更附 C_meta 变更原因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8878824" y="2468880"/>
            <a:ext cx="242316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支持时间旅行查询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8878824" y="2706624"/>
            <a:ext cx="1463040" cy="201168"/>
          </a:xfrm>
          <a:prstGeom prst="roundRect">
            <a:avLst>
              <a:gd name="adj" fmla="val 13636"/>
            </a:avLst>
          </a:prstGeom>
          <a:solidFill>
            <a:srgbClr val="6B3FA0"/>
          </a:solidFill>
        </p:spPr>
      </p:sp>
      <p:sp>
        <p:nvSpPr>
          <p:cNvPr id="64" name="Text 62"/>
          <p:cNvSpPr/>
          <p:nvPr/>
        </p:nvSpPr>
        <p:spPr>
          <a:xfrm>
            <a:off x="8878824" y="2706624"/>
            <a:ext cx="14630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参考 HydraDB Ledger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182880" y="3383280"/>
            <a:ext cx="5303520" cy="274320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12700">
            <a:solidFill>
              <a:srgbClr val="DEE5E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20040" y="3419856"/>
            <a:ext cx="27432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A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定期反思与记忆整理</a:t>
            </a:r>
            <a:endParaRPr lang="en-US" sz="1300" dirty="0"/>
          </a:p>
        </p:txBody>
      </p:sp>
      <p:sp>
        <p:nvSpPr>
          <p:cNvPr id="67" name="Text 65"/>
          <p:cNvSpPr/>
          <p:nvPr/>
        </p:nvSpPr>
        <p:spPr>
          <a:xfrm>
            <a:off x="3200400" y="3438144"/>
            <a:ext cx="2743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后台异步执行，零运行时开销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365760" y="3730752"/>
            <a:ext cx="1463040" cy="713232"/>
          </a:xfrm>
          <a:prstGeom prst="roundRect">
            <a:avLst>
              <a:gd name="adj" fmla="val 7692"/>
            </a:avLst>
          </a:prstGeom>
          <a:solidFill>
            <a:srgbClr val="F3EDF9"/>
          </a:solidFill>
          <a:ln w="19050">
            <a:solidFill>
              <a:srgbClr val="6B3FA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65760" y="3730752"/>
            <a:ext cx="36576" cy="713232"/>
          </a:xfrm>
          <a:prstGeom prst="rect">
            <a:avLst/>
          </a:prstGeom>
          <a:solidFill>
            <a:srgbClr val="6B3F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38912" y="3767328"/>
            <a:ext cx="219456" cy="219456"/>
          </a:xfrm>
          <a:prstGeom prst="ellipse">
            <a:avLst/>
          </a:prstGeom>
          <a:solidFill>
            <a:srgbClr val="6B3FA0"/>
          </a:solidFill>
        </p:spPr>
      </p:sp>
      <p:sp>
        <p:nvSpPr>
          <p:cNvPr id="71" name="Text 69"/>
          <p:cNvSpPr/>
          <p:nvPr/>
        </p:nvSpPr>
        <p:spPr>
          <a:xfrm>
            <a:off x="438912" y="3767328"/>
            <a:ext cx="219456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694944" y="3767328"/>
            <a:ext cx="100584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3FA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Trait 反思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438912" y="4023360"/>
            <a:ext cx="1280160" cy="137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从 Episode 中发现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438912" y="4151376"/>
            <a:ext cx="1280160" cy="137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用户行为模式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438912" y="4279392"/>
            <a:ext cx="1280160" cy="137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6B3FA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9 步流水线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1874520" y="4087368"/>
            <a:ext cx="73152" cy="914"/>
          </a:xfrm>
          <a:prstGeom prst="line">
            <a:avLst/>
          </a:prstGeom>
          <a:noFill/>
          <a:ln w="25400">
            <a:solidFill>
              <a:srgbClr val="6B3FA0"/>
            </a:solidFill>
            <a:prstDash val="solid"/>
            <a:tailEnd type="triangle"/>
          </a:ln>
        </p:spPr>
      </p:sp>
      <p:sp>
        <p:nvSpPr>
          <p:cNvPr id="77" name="Shape 75"/>
          <p:cNvSpPr/>
          <p:nvPr/>
        </p:nvSpPr>
        <p:spPr>
          <a:xfrm>
            <a:off x="1965960" y="3730752"/>
            <a:ext cx="1463040" cy="713232"/>
          </a:xfrm>
          <a:prstGeom prst="roundRect">
            <a:avLst>
              <a:gd name="adj" fmla="val 7692"/>
            </a:avLst>
          </a:prstGeom>
          <a:solidFill>
            <a:srgbClr val="FEF3E8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965960" y="3730752"/>
            <a:ext cx="36576" cy="713232"/>
          </a:xfrm>
          <a:prstGeom prst="rect">
            <a:avLst/>
          </a:prstGeom>
          <a:solidFill>
            <a:srgbClr val="B4530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039112" y="3767328"/>
            <a:ext cx="219456" cy="219456"/>
          </a:xfrm>
          <a:prstGeom prst="ellipse">
            <a:avLst/>
          </a:prstGeom>
          <a:solidFill>
            <a:srgbClr val="B45309"/>
          </a:solidFill>
        </p:spPr>
      </p:sp>
      <p:sp>
        <p:nvSpPr>
          <p:cNvPr id="80" name="Text 78"/>
          <p:cNvSpPr/>
          <p:nvPr/>
        </p:nvSpPr>
        <p:spPr>
          <a:xfrm>
            <a:off x="2039112" y="3767328"/>
            <a:ext cx="219456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B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2295144" y="3767328"/>
            <a:ext cx="100584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4530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证据聚合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2039112" y="4023360"/>
            <a:ext cx="1280160" cy="137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支持/反驳证据链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2039112" y="4151376"/>
            <a:ext cx="1280160" cy="137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置信度 A/B/C/D 评级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2039112" y="4279392"/>
            <a:ext cx="1280160" cy="137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B4530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矛盾检测与消解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3474720" y="4087368"/>
            <a:ext cx="73152" cy="914"/>
          </a:xfrm>
          <a:prstGeom prst="line">
            <a:avLst/>
          </a:prstGeom>
          <a:noFill/>
          <a:ln w="25400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86" name="Shape 84"/>
          <p:cNvSpPr/>
          <p:nvPr/>
        </p:nvSpPr>
        <p:spPr>
          <a:xfrm>
            <a:off x="3566160" y="3730752"/>
            <a:ext cx="1463040" cy="713232"/>
          </a:xfrm>
          <a:prstGeom prst="roundRect">
            <a:avLst>
              <a:gd name="adj" fmla="val 7692"/>
            </a:avLst>
          </a:prstGeom>
          <a:solidFill>
            <a:srgbClr val="E0F2F1"/>
          </a:solidFill>
          <a:ln w="19050">
            <a:solidFill>
              <a:srgbClr val="00796B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566160" y="3730752"/>
            <a:ext cx="36576" cy="713232"/>
          </a:xfrm>
          <a:prstGeom prst="rect">
            <a:avLst/>
          </a:prstGeom>
          <a:solidFill>
            <a:srgbClr val="0079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639312" y="3767328"/>
            <a:ext cx="219456" cy="219456"/>
          </a:xfrm>
          <a:prstGeom prst="ellipse">
            <a:avLst/>
          </a:prstGeom>
          <a:solidFill>
            <a:srgbClr val="00796B"/>
          </a:solidFill>
        </p:spPr>
      </p:sp>
      <p:sp>
        <p:nvSpPr>
          <p:cNvPr id="89" name="Text 87"/>
          <p:cNvSpPr/>
          <p:nvPr/>
        </p:nvSpPr>
        <p:spPr>
          <a:xfrm>
            <a:off x="3639312" y="3767328"/>
            <a:ext cx="219456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</a:t>
            </a:r>
            <a:endParaRPr lang="en-US" sz="1000" dirty="0"/>
          </a:p>
        </p:txBody>
      </p:sp>
      <p:sp>
        <p:nvSpPr>
          <p:cNvPr id="90" name="Text 88"/>
          <p:cNvSpPr/>
          <p:nvPr/>
        </p:nvSpPr>
        <p:spPr>
          <a:xfrm>
            <a:off x="3895344" y="3767328"/>
            <a:ext cx="100584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796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图谱整理</a:t>
            </a:r>
            <a:endParaRPr lang="en-US" sz="1000" dirty="0"/>
          </a:p>
        </p:txBody>
      </p:sp>
      <p:sp>
        <p:nvSpPr>
          <p:cNvPr id="91" name="Text 89"/>
          <p:cNvSpPr/>
          <p:nvPr/>
        </p:nvSpPr>
        <p:spPr>
          <a:xfrm>
            <a:off x="3639312" y="4023360"/>
            <a:ext cx="1280160" cy="137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合并冗余实体</a:t>
            </a:r>
            <a:endParaRPr lang="en-US" sz="800" dirty="0"/>
          </a:p>
        </p:txBody>
      </p:sp>
      <p:sp>
        <p:nvSpPr>
          <p:cNvPr id="92" name="Text 90"/>
          <p:cNvSpPr/>
          <p:nvPr/>
        </p:nvSpPr>
        <p:spPr>
          <a:xfrm>
            <a:off x="3639312" y="4151376"/>
            <a:ext cx="1280160" cy="137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层级摘要 L0/L1/L2</a:t>
            </a:r>
            <a:endParaRPr lang="en-US" sz="800" dirty="0"/>
          </a:p>
        </p:txBody>
      </p:sp>
      <p:sp>
        <p:nvSpPr>
          <p:cNvPr id="93" name="Text 91"/>
          <p:cNvSpPr/>
          <p:nvPr/>
        </p:nvSpPr>
        <p:spPr>
          <a:xfrm>
            <a:off x="3639312" y="4279392"/>
            <a:ext cx="1280160" cy="137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00796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智能遗忘低Q记忆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365760" y="4581144"/>
            <a:ext cx="493776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502920" y="4617720"/>
            <a:ext cx="18288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3A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Trait 生命周期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548640" y="4855464"/>
            <a:ext cx="667512" cy="274320"/>
          </a:xfrm>
          <a:prstGeom prst="roundRect">
            <a:avLst>
              <a:gd name="adj" fmla="val 13333"/>
            </a:avLst>
          </a:prstGeom>
          <a:solidFill>
            <a:srgbClr val="5D6D7E"/>
          </a:solidFill>
        </p:spPr>
      </p:sp>
      <p:sp>
        <p:nvSpPr>
          <p:cNvPr id="97" name="Text 95"/>
          <p:cNvSpPr/>
          <p:nvPr/>
        </p:nvSpPr>
        <p:spPr>
          <a:xfrm>
            <a:off x="548640" y="4855464"/>
            <a:ext cx="66751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trend</a:t>
            </a:r>
            <a:endParaRPr lang="en-US" sz="800" dirty="0"/>
          </a:p>
        </p:txBody>
      </p:sp>
      <p:sp>
        <p:nvSpPr>
          <p:cNvPr id="98" name="Shape 96"/>
          <p:cNvSpPr/>
          <p:nvPr/>
        </p:nvSpPr>
        <p:spPr>
          <a:xfrm>
            <a:off x="1197864" y="4992624"/>
            <a:ext cx="146304" cy="914"/>
          </a:xfrm>
          <a:prstGeom prst="line">
            <a:avLst/>
          </a:prstGeom>
          <a:noFill/>
          <a:ln w="19050">
            <a:solidFill>
              <a:srgbClr val="5D6D7E"/>
            </a:solidFill>
            <a:prstDash val="solid"/>
            <a:tailEnd type="triangle"/>
          </a:ln>
        </p:spPr>
      </p:sp>
      <p:sp>
        <p:nvSpPr>
          <p:cNvPr id="99" name="Shape 97"/>
          <p:cNvSpPr/>
          <p:nvPr/>
        </p:nvSpPr>
        <p:spPr>
          <a:xfrm>
            <a:off x="1325880" y="4855464"/>
            <a:ext cx="667512" cy="274320"/>
          </a:xfrm>
          <a:prstGeom prst="roundRect">
            <a:avLst>
              <a:gd name="adj" fmla="val 13333"/>
            </a:avLst>
          </a:prstGeom>
          <a:solidFill>
            <a:srgbClr val="B45309"/>
          </a:solidFill>
        </p:spPr>
      </p:sp>
      <p:sp>
        <p:nvSpPr>
          <p:cNvPr id="100" name="Text 98"/>
          <p:cNvSpPr/>
          <p:nvPr/>
        </p:nvSpPr>
        <p:spPr>
          <a:xfrm>
            <a:off x="1325880" y="4855464"/>
            <a:ext cx="66751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candidate</a:t>
            </a:r>
            <a:endParaRPr lang="en-US" sz="800" dirty="0"/>
          </a:p>
        </p:txBody>
      </p:sp>
      <p:sp>
        <p:nvSpPr>
          <p:cNvPr id="101" name="Shape 99"/>
          <p:cNvSpPr/>
          <p:nvPr/>
        </p:nvSpPr>
        <p:spPr>
          <a:xfrm>
            <a:off x="1975104" y="4992624"/>
            <a:ext cx="146304" cy="914"/>
          </a:xfrm>
          <a:prstGeom prst="line">
            <a:avLst/>
          </a:prstGeom>
          <a:noFill/>
          <a:ln w="19050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102" name="Shape 100"/>
          <p:cNvSpPr/>
          <p:nvPr/>
        </p:nvSpPr>
        <p:spPr>
          <a:xfrm>
            <a:off x="2103120" y="4855464"/>
            <a:ext cx="667512" cy="274320"/>
          </a:xfrm>
          <a:prstGeom prst="roundRect">
            <a:avLst>
              <a:gd name="adj" fmla="val 13333"/>
            </a:avLst>
          </a:prstGeom>
          <a:solidFill>
            <a:srgbClr val="1565C0"/>
          </a:solidFill>
        </p:spPr>
      </p:sp>
      <p:sp>
        <p:nvSpPr>
          <p:cNvPr id="103" name="Text 101"/>
          <p:cNvSpPr/>
          <p:nvPr/>
        </p:nvSpPr>
        <p:spPr>
          <a:xfrm>
            <a:off x="2103120" y="4855464"/>
            <a:ext cx="66751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emerging</a:t>
            </a:r>
            <a:endParaRPr lang="en-US" sz="800" dirty="0"/>
          </a:p>
        </p:txBody>
      </p:sp>
      <p:sp>
        <p:nvSpPr>
          <p:cNvPr id="104" name="Shape 102"/>
          <p:cNvSpPr/>
          <p:nvPr/>
        </p:nvSpPr>
        <p:spPr>
          <a:xfrm>
            <a:off x="2752344" y="4992624"/>
            <a:ext cx="146304" cy="914"/>
          </a:xfrm>
          <a:prstGeom prst="line">
            <a:avLst/>
          </a:prstGeom>
          <a:noFill/>
          <a:ln w="19050">
            <a:solidFill>
              <a:srgbClr val="1565C0"/>
            </a:solidFill>
            <a:prstDash val="solid"/>
            <a:tailEnd type="triangle"/>
          </a:ln>
        </p:spPr>
      </p:sp>
      <p:sp>
        <p:nvSpPr>
          <p:cNvPr id="105" name="Shape 103"/>
          <p:cNvSpPr/>
          <p:nvPr/>
        </p:nvSpPr>
        <p:spPr>
          <a:xfrm>
            <a:off x="2880360" y="4855464"/>
            <a:ext cx="667512" cy="274320"/>
          </a:xfrm>
          <a:prstGeom prst="roundRect">
            <a:avLst>
              <a:gd name="adj" fmla="val 13333"/>
            </a:avLst>
          </a:prstGeom>
          <a:solidFill>
            <a:srgbClr val="0D7C66"/>
          </a:solidFill>
        </p:spPr>
      </p:sp>
      <p:sp>
        <p:nvSpPr>
          <p:cNvPr id="106" name="Text 104"/>
          <p:cNvSpPr/>
          <p:nvPr/>
        </p:nvSpPr>
        <p:spPr>
          <a:xfrm>
            <a:off x="2880360" y="4855464"/>
            <a:ext cx="66751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established</a:t>
            </a:r>
            <a:endParaRPr lang="en-US" sz="800" dirty="0"/>
          </a:p>
        </p:txBody>
      </p:sp>
      <p:sp>
        <p:nvSpPr>
          <p:cNvPr id="107" name="Shape 105"/>
          <p:cNvSpPr/>
          <p:nvPr/>
        </p:nvSpPr>
        <p:spPr>
          <a:xfrm>
            <a:off x="3529584" y="4992624"/>
            <a:ext cx="146304" cy="914"/>
          </a:xfrm>
          <a:prstGeom prst="line">
            <a:avLst/>
          </a:prstGeom>
          <a:noFill/>
          <a:ln w="19050">
            <a:solidFill>
              <a:srgbClr val="0D7C66"/>
            </a:solidFill>
            <a:prstDash val="solid"/>
            <a:tailEnd type="triangle"/>
          </a:ln>
        </p:spPr>
      </p:sp>
      <p:sp>
        <p:nvSpPr>
          <p:cNvPr id="108" name="Shape 106"/>
          <p:cNvSpPr/>
          <p:nvPr/>
        </p:nvSpPr>
        <p:spPr>
          <a:xfrm>
            <a:off x="3657600" y="4855464"/>
            <a:ext cx="667512" cy="274320"/>
          </a:xfrm>
          <a:prstGeom prst="roundRect">
            <a:avLst>
              <a:gd name="adj" fmla="val 13333"/>
            </a:avLst>
          </a:prstGeom>
          <a:solidFill>
            <a:srgbClr val="6B3FA0"/>
          </a:solidFill>
        </p:spPr>
      </p:sp>
      <p:sp>
        <p:nvSpPr>
          <p:cNvPr id="109" name="Text 107"/>
          <p:cNvSpPr/>
          <p:nvPr/>
        </p:nvSpPr>
        <p:spPr>
          <a:xfrm>
            <a:off x="3657600" y="4855464"/>
            <a:ext cx="66751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core</a:t>
            </a:r>
            <a:endParaRPr lang="en-US" sz="800" dirty="0"/>
          </a:p>
        </p:txBody>
      </p:sp>
      <p:sp>
        <p:nvSpPr>
          <p:cNvPr id="110" name="Shape 108"/>
          <p:cNvSpPr/>
          <p:nvPr/>
        </p:nvSpPr>
        <p:spPr>
          <a:xfrm>
            <a:off x="4297680" y="4443984"/>
            <a:ext cx="914" cy="914400"/>
          </a:xfrm>
          <a:prstGeom prst="line">
            <a:avLst/>
          </a:prstGeom>
          <a:noFill/>
          <a:ln w="19050">
            <a:solidFill>
              <a:srgbClr val="00796B"/>
            </a:solidFill>
            <a:prstDash val="dash"/>
          </a:ln>
        </p:spPr>
      </p:sp>
      <p:sp>
        <p:nvSpPr>
          <p:cNvPr id="111" name="Text 109"/>
          <p:cNvSpPr/>
          <p:nvPr/>
        </p:nvSpPr>
        <p:spPr>
          <a:xfrm>
            <a:off x="3566160" y="5239512"/>
            <a:ext cx="146304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00796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持续优化</a:t>
            </a:r>
            <a:endParaRPr lang="en-US" sz="750" dirty="0"/>
          </a:p>
        </p:txBody>
      </p:sp>
      <p:sp>
        <p:nvSpPr>
          <p:cNvPr id="112" name="Shape 110"/>
          <p:cNvSpPr/>
          <p:nvPr/>
        </p:nvSpPr>
        <p:spPr>
          <a:xfrm>
            <a:off x="5715000" y="3383280"/>
            <a:ext cx="6263640" cy="274320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12700">
            <a:solidFill>
              <a:srgbClr val="DEE5ED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5852160" y="3419856"/>
            <a:ext cx="36576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A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结构化带来的检索能力提升</a:t>
            </a:r>
            <a:endParaRPr lang="en-US" sz="1300" dirty="0"/>
          </a:p>
        </p:txBody>
      </p:sp>
      <p:sp>
        <p:nvSpPr>
          <p:cNvPr id="114" name="Shape 112"/>
          <p:cNvSpPr/>
          <p:nvPr/>
        </p:nvSpPr>
        <p:spPr>
          <a:xfrm>
            <a:off x="5852160" y="3730752"/>
            <a:ext cx="2926080" cy="1097280"/>
          </a:xfrm>
          <a:prstGeom prst="roundRect">
            <a:avLst>
              <a:gd name="adj" fmla="val 5000"/>
            </a:avLst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5943600" y="3749040"/>
            <a:ext cx="2743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C0392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❌  传统方式：碎片化存储</a:t>
            </a:r>
            <a:endParaRPr lang="en-US" sz="950" dirty="0"/>
          </a:p>
        </p:txBody>
      </p:sp>
      <p:sp>
        <p:nvSpPr>
          <p:cNvPr id="116" name="Text 114"/>
          <p:cNvSpPr/>
          <p:nvPr/>
        </p:nvSpPr>
        <p:spPr>
          <a:xfrm>
            <a:off x="5943600" y="3968496"/>
            <a:ext cx="274320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"她讨厌那个框架" → 丢失主语和指代</a:t>
            </a:r>
            <a:endParaRPr lang="en-US" sz="800" dirty="0"/>
          </a:p>
        </p:txBody>
      </p:sp>
      <p:sp>
        <p:nvSpPr>
          <p:cNvPr id="117" name="Text 115"/>
          <p:cNvSpPr/>
          <p:nvPr/>
        </p:nvSpPr>
        <p:spPr>
          <a:xfrm>
            <a:off x="5943600" y="4114800"/>
            <a:ext cx="274320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"I moved to the office" → 丢失职业上下文</a:t>
            </a:r>
            <a:endParaRPr lang="en-US" sz="800" dirty="0"/>
          </a:p>
        </p:txBody>
      </p:sp>
      <p:sp>
        <p:nvSpPr>
          <p:cNvPr id="118" name="Text 116"/>
          <p:cNvSpPr/>
          <p:nvPr/>
        </p:nvSpPr>
        <p:spPr>
          <a:xfrm>
            <a:off x="5943600" y="4261104"/>
            <a:ext cx="274320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更新覆盖旧值 → 历史信息永久丢失</a:t>
            </a:r>
            <a:endParaRPr lang="en-US" sz="800" dirty="0"/>
          </a:p>
        </p:txBody>
      </p:sp>
      <p:sp>
        <p:nvSpPr>
          <p:cNvPr id="119" name="Text 117"/>
          <p:cNvSpPr/>
          <p:nvPr/>
        </p:nvSpPr>
        <p:spPr>
          <a:xfrm>
            <a:off x="5943600" y="4462272"/>
            <a:ext cx="2743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0392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~40% 记忆碎片化不可检索</a:t>
            </a:r>
            <a:endParaRPr lang="en-US" sz="900" dirty="0"/>
          </a:p>
        </p:txBody>
      </p:sp>
      <p:sp>
        <p:nvSpPr>
          <p:cNvPr id="120" name="Shape 118"/>
          <p:cNvSpPr/>
          <p:nvPr/>
        </p:nvSpPr>
        <p:spPr>
          <a:xfrm>
            <a:off x="8915400" y="3730752"/>
            <a:ext cx="2926080" cy="1097280"/>
          </a:xfrm>
          <a:prstGeom prst="roundRect">
            <a:avLst>
              <a:gd name="adj" fmla="val 5000"/>
            </a:avLst>
          </a:prstGeom>
          <a:solidFill>
            <a:srgbClr val="E8F6F3"/>
          </a:solidFill>
          <a:ln w="12700">
            <a:solidFill>
              <a:srgbClr val="0D7C66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9006840" y="3749040"/>
            <a:ext cx="2743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D7C6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✓  结构化方式：语义网络</a:t>
            </a:r>
            <a:endParaRPr lang="en-US" sz="950" dirty="0"/>
          </a:p>
        </p:txBody>
      </p:sp>
      <p:sp>
        <p:nvSpPr>
          <p:cNvPr id="122" name="Text 120"/>
          <p:cNvSpPr/>
          <p:nvPr/>
        </p:nvSpPr>
        <p:spPr>
          <a:xfrm>
            <a:off x="9006840" y="3968496"/>
            <a:ext cx="274320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代词消解 → 实体明确、可检索</a:t>
            </a:r>
            <a:endParaRPr lang="en-US" sz="800" dirty="0"/>
          </a:p>
        </p:txBody>
      </p:sp>
      <p:sp>
        <p:nvSpPr>
          <p:cNvPr id="123" name="Text 121"/>
          <p:cNvSpPr/>
          <p:nvPr/>
        </p:nvSpPr>
        <p:spPr>
          <a:xfrm>
            <a:off x="9006840" y="4114800"/>
            <a:ext cx="274320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图谱关联 → 多跳推理可达</a:t>
            </a:r>
            <a:endParaRPr lang="en-US" sz="800" dirty="0"/>
          </a:p>
        </p:txBody>
      </p:sp>
      <p:sp>
        <p:nvSpPr>
          <p:cNvPr id="124" name="Text 122"/>
          <p:cNvSpPr/>
          <p:nvPr/>
        </p:nvSpPr>
        <p:spPr>
          <a:xfrm>
            <a:off x="9006840" y="4261104"/>
            <a:ext cx="274320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Append-only → 完整时间线可回溯</a:t>
            </a:r>
            <a:endParaRPr lang="en-US" sz="800" dirty="0"/>
          </a:p>
        </p:txBody>
      </p:sp>
      <p:sp>
        <p:nvSpPr>
          <p:cNvPr id="125" name="Text 123"/>
          <p:cNvSpPr/>
          <p:nvPr/>
        </p:nvSpPr>
        <p:spPr>
          <a:xfrm>
            <a:off x="9006840" y="4462272"/>
            <a:ext cx="2743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D7C6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三路融合检索 → 召回率大幅提升</a:t>
            </a:r>
            <a:endParaRPr lang="en-US" sz="900" dirty="0"/>
          </a:p>
        </p:txBody>
      </p:sp>
      <p:sp>
        <p:nvSpPr>
          <p:cNvPr id="126" name="Shape 124"/>
          <p:cNvSpPr/>
          <p:nvPr/>
        </p:nvSpPr>
        <p:spPr>
          <a:xfrm>
            <a:off x="5852160" y="4965192"/>
            <a:ext cx="2926080" cy="530352"/>
          </a:xfrm>
          <a:prstGeom prst="roundRect">
            <a:avLst>
              <a:gd name="adj" fmla="val 10345"/>
            </a:avLst>
          </a:prstGeom>
          <a:solidFill>
            <a:srgbClr val="0D7C66"/>
          </a:solidFill>
          <a:ln w="19050">
            <a:solidFill>
              <a:srgbClr val="0D7C66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5925312" y="5001768"/>
            <a:ext cx="2779776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🔗 图谱多跳推理</a:t>
            </a:r>
            <a:endParaRPr lang="en-US" sz="1000" dirty="0"/>
          </a:p>
        </p:txBody>
      </p:sp>
      <p:sp>
        <p:nvSpPr>
          <p:cNvPr id="128" name="Text 126"/>
          <p:cNvSpPr/>
          <p:nvPr/>
        </p:nvSpPr>
        <p:spPr>
          <a:xfrm>
            <a:off x="5925312" y="5221224"/>
            <a:ext cx="2779776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Alice→Meta→React 关联推理</a:t>
            </a:r>
            <a:endParaRPr lang="en-US" sz="850" dirty="0"/>
          </a:p>
        </p:txBody>
      </p:sp>
      <p:sp>
        <p:nvSpPr>
          <p:cNvPr id="129" name="Shape 127"/>
          <p:cNvSpPr/>
          <p:nvPr/>
        </p:nvSpPr>
        <p:spPr>
          <a:xfrm>
            <a:off x="8869680" y="4965192"/>
            <a:ext cx="2926080" cy="530352"/>
          </a:xfrm>
          <a:prstGeom prst="roundRect">
            <a:avLst>
              <a:gd name="adj" fmla="val 10345"/>
            </a:avLst>
          </a:prstGeom>
          <a:solidFill>
            <a:srgbClr val="6B3FA0"/>
          </a:solidFill>
          <a:ln w="19050">
            <a:solidFill>
              <a:srgbClr val="6B3FA0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8942832" y="5001768"/>
            <a:ext cx="2779776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⏱️ 时间旅行查询</a:t>
            </a:r>
            <a:endParaRPr lang="en-US" sz="1000" dirty="0"/>
          </a:p>
        </p:txBody>
      </p:sp>
      <p:sp>
        <p:nvSpPr>
          <p:cNvPr id="131" name="Text 129"/>
          <p:cNvSpPr/>
          <p:nvPr/>
        </p:nvSpPr>
        <p:spPr>
          <a:xfrm>
            <a:off x="8942832" y="5221224"/>
            <a:ext cx="2779776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"去年 Q3 时的技术栈是什么"</a:t>
            </a:r>
            <a:endParaRPr lang="en-US" sz="850" dirty="0"/>
          </a:p>
        </p:txBody>
      </p:sp>
      <p:sp>
        <p:nvSpPr>
          <p:cNvPr id="132" name="Shape 130"/>
          <p:cNvSpPr/>
          <p:nvPr/>
        </p:nvSpPr>
        <p:spPr>
          <a:xfrm>
            <a:off x="5852160" y="5568696"/>
            <a:ext cx="2926080" cy="530352"/>
          </a:xfrm>
          <a:prstGeom prst="roundRect">
            <a:avLst>
              <a:gd name="adj" fmla="val 10345"/>
            </a:avLst>
          </a:prstGeom>
          <a:solidFill>
            <a:srgbClr val="B45309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5925312" y="5605272"/>
            <a:ext cx="2779776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🎯 三路融合召回</a:t>
            </a:r>
            <a:endParaRPr lang="en-US" sz="1000" dirty="0"/>
          </a:p>
        </p:txBody>
      </p:sp>
      <p:sp>
        <p:nvSpPr>
          <p:cNvPr id="134" name="Text 132"/>
          <p:cNvSpPr/>
          <p:nvPr/>
        </p:nvSpPr>
        <p:spPr>
          <a:xfrm>
            <a:off x="5925312" y="5824728"/>
            <a:ext cx="2779776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语义+增强+关键词 交叉验证</a:t>
            </a:r>
            <a:endParaRPr lang="en-US" sz="850" dirty="0"/>
          </a:p>
        </p:txBody>
      </p:sp>
      <p:sp>
        <p:nvSpPr>
          <p:cNvPr id="135" name="Shape 133"/>
          <p:cNvSpPr/>
          <p:nvPr/>
        </p:nvSpPr>
        <p:spPr>
          <a:xfrm>
            <a:off x="8869680" y="5568696"/>
            <a:ext cx="2926080" cy="530352"/>
          </a:xfrm>
          <a:prstGeom prst="roundRect">
            <a:avLst>
              <a:gd name="adj" fmla="val 10345"/>
            </a:avLst>
          </a:prstGeom>
          <a:solidFill>
            <a:srgbClr val="1565C0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8942832" y="5605272"/>
            <a:ext cx="2779776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📊 L0/L1/L2 渐进返回</a:t>
            </a:r>
            <a:endParaRPr lang="en-US" sz="1000" dirty="0"/>
          </a:p>
        </p:txBody>
      </p:sp>
      <p:sp>
        <p:nvSpPr>
          <p:cNvPr id="137" name="Text 135"/>
          <p:cNvSpPr/>
          <p:nvPr/>
        </p:nvSpPr>
        <p:spPr>
          <a:xfrm>
            <a:off x="8942832" y="5824728"/>
            <a:ext cx="2779776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先摘要后详情，节省 83% Token</a:t>
            </a:r>
            <a:endParaRPr lang="en-US" sz="850" dirty="0"/>
          </a:p>
        </p:txBody>
      </p:sp>
      <p:sp>
        <p:nvSpPr>
          <p:cNvPr id="138" name="Shape 136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1A3A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365760" y="6437376"/>
            <a:ext cx="11457432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竞争力本质：</a:t>
            </a:r>
            <a:r>
              <a:rPr lang="en-US" sz="1200" b="1" dirty="0">
                <a:solidFill>
                  <a:srgbClr val="FFD7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竞品存储文本碎片，我们构建语义网络。</a:t>
            </a:r>
            <a:r>
              <a:rPr lang="en-US" sz="1000" dirty="0">
                <a:solidFill>
                  <a:srgbClr val="B0C4D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 注入时增强（代词消解+图谱+多向量）+ 定期反思（Trait+证据+整理）= Agent 的结构化长期记忆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30352"/>
          </a:xfrm>
          <a:prstGeom prst="rect">
            <a:avLst/>
          </a:prstGeom>
          <a:solidFill>
            <a:srgbClr val="1A3A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10058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关键技术</a:t>
            </a:r>
            <a:r>
              <a:rPr lang="en-US" altLang="zh-CN" sz="19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</a:t>
            </a:r>
            <a:r>
              <a:rPr lang="zh-CN" altLang="en-US" sz="19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：</a:t>
            </a:r>
            <a:r>
              <a:rPr lang="en-US" sz="19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自演进记忆策略</a:t>
            </a:r>
            <a:r>
              <a:rPr lang="zh-CN" altLang="en-US" sz="1900" b="1" dirty="0">
                <a:solidFill>
                  <a:srgbClr val="FFFFFF"/>
                </a:solidFill>
                <a:latin typeface="Arial" panose="020B0604020202090204" pitchFamily="34" charset="0"/>
                <a:ea typeface="宋体" charset="0"/>
                <a:cs typeface="Arial" panose="020B0604020202090204" pitchFamily="34" charset="-120"/>
              </a:rPr>
              <a:t>，</a:t>
            </a:r>
            <a:r>
              <a:rPr lang="en-US" sz="19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让系统自己学会如何记忆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109728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0C4D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不预设记忆策略，而是通过数据飞轮自动发现每个场景的最优记忆方式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28600" y="603504"/>
            <a:ext cx="11731752" cy="438912"/>
          </a:xfrm>
          <a:prstGeom prst="roundRect">
            <a:avLst>
              <a:gd name="adj" fmla="val 12500"/>
            </a:avLst>
          </a:prstGeom>
          <a:solidFill>
            <a:srgbClr val="E3F0FF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603504"/>
            <a:ext cx="54864" cy="438912"/>
          </a:xfrm>
          <a:prstGeom prst="rect">
            <a:avLst/>
          </a:prstGeom>
          <a:solidFill>
            <a:srgbClr val="1565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621792"/>
            <a:ext cx="11274552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65C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核心命题：</a:t>
            </a:r>
            <a:r>
              <a:rPr lang="en-US" sz="1300" b="1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记忆策略 = 一组可学习的参数</a:t>
            </a:r>
            <a:r>
              <a:rPr lang="en-US" sz="110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（提取什么 / 怎么衰减 / 怎么检索 / 反思什么 / 怎么压缩）</a:t>
            </a:r>
            <a:r>
              <a:rPr lang="en-US" sz="1100" dirty="0">
                <a:solidFill>
                  <a:srgbClr val="1565C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 →  通过 Agent 使用反馈自动调优，而非人工为每个场景设计规则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28600" y="1133856"/>
            <a:ext cx="283464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3A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可学习的策略参数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8600" y="1389888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E8F6F3"/>
          </a:solidFill>
          <a:ln w="12700">
            <a:solidFill>
              <a:srgbClr val="0D7C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" y="1389888"/>
            <a:ext cx="36576" cy="384048"/>
          </a:xfrm>
          <a:prstGeom prst="rect">
            <a:avLst/>
          </a:prstGeom>
          <a:solidFill>
            <a:srgbClr val="0D7C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408176"/>
            <a:ext cx="1371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7C6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📥 提取策略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" y="1572768"/>
            <a:ext cx="256032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提取什么类型？权重如何？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099816" y="1581912"/>
            <a:ext cx="219456" cy="914"/>
          </a:xfrm>
          <a:prstGeom prst="line">
            <a:avLst/>
          </a:prstGeom>
          <a:noFill/>
          <a:ln w="19050">
            <a:solidFill>
              <a:srgbClr val="0D7C66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28600" y="1810512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FEF3E8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8600" y="1810512"/>
            <a:ext cx="36576" cy="384048"/>
          </a:xfrm>
          <a:prstGeom prst="rect">
            <a:avLst/>
          </a:prstGeom>
          <a:solidFill>
            <a:srgbClr val="B4530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1828800"/>
            <a:ext cx="1371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4530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⏳ 衰减函数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" y="1993392"/>
            <a:ext cx="256032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不同类型衰减速率？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099816" y="2002536"/>
            <a:ext cx="219456" cy="914"/>
          </a:xfrm>
          <a:prstGeom prst="line">
            <a:avLst/>
          </a:prstGeom>
          <a:noFill/>
          <a:ln w="19050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28600" y="2231136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E3F0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" y="2231136"/>
            <a:ext cx="36576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249424"/>
            <a:ext cx="1371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565C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🔍 检索公式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0040" y="2414016"/>
            <a:ext cx="256032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各信号混合权重？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099816" y="2423160"/>
            <a:ext cx="219456" cy="914"/>
          </a:xfrm>
          <a:prstGeom prst="line">
            <a:avLst/>
          </a:prstGeom>
          <a:noFill/>
          <a:ln w="19050">
            <a:solidFill>
              <a:srgbClr val="1565C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228600" y="265176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F3EDF9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8600" y="2651760"/>
            <a:ext cx="36576" cy="384048"/>
          </a:xfrm>
          <a:prstGeom prst="rect">
            <a:avLst/>
          </a:prstGeom>
          <a:solidFill>
            <a:srgbClr val="6B3F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2670048"/>
            <a:ext cx="1371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B3FA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🧠 Trait 焦点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0040" y="2834640"/>
            <a:ext cx="256032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反思什么行为维度？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099816" y="2843784"/>
            <a:ext cx="219456" cy="914"/>
          </a:xfrm>
          <a:prstGeom prst="line">
            <a:avLst/>
          </a:prstGeom>
          <a:noFill/>
          <a:ln w="19050">
            <a:solidFill>
              <a:srgbClr val="6B3FA0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228600" y="3072384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FDF9E8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8600" y="3072384"/>
            <a:ext cx="36576" cy="384048"/>
          </a:xfrm>
          <a:prstGeom prst="rect">
            <a:avLst/>
          </a:prstGeom>
          <a:solidFill>
            <a:srgbClr val="7D660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3090672"/>
            <a:ext cx="1371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D660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📦 压缩策略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20040" y="3255264"/>
            <a:ext cx="256032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何时合并/归档？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099816" y="3264408"/>
            <a:ext cx="219456" cy="914"/>
          </a:xfrm>
          <a:prstGeom prst="line">
            <a:avLst/>
          </a:prstGeom>
          <a:noFill/>
          <a:ln w="19050">
            <a:solidFill>
              <a:srgbClr val="7D6608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228600" y="3602736"/>
            <a:ext cx="2834640" cy="1188720"/>
          </a:xfrm>
          <a:prstGeom prst="roundRect">
            <a:avLst>
              <a:gd name="adj" fmla="val 4615"/>
            </a:avLst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28600" y="3602736"/>
            <a:ext cx="36576" cy="1188720"/>
          </a:xfrm>
          <a:prstGeom prst="rect">
            <a:avLst/>
          </a:prstGeom>
          <a:solidFill>
            <a:srgbClr val="C03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3639312"/>
            <a:ext cx="25603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0392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❌ 手工设计策略的问题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20040" y="3858768"/>
            <a:ext cx="25603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需要领域专家，成本高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20040" y="4041648"/>
            <a:ext cx="25603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用户行为在变，策略会过时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20040" y="4224528"/>
            <a:ext cx="25603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无法 A/B 对比策略效果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20040" y="4407408"/>
            <a:ext cx="25603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新场景上线周期长（月级）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337560" y="1133856"/>
            <a:ext cx="5257800" cy="4983480"/>
          </a:xfrm>
          <a:prstGeom prst="roundRect">
            <a:avLst>
              <a:gd name="adj" fmla="val 1835"/>
            </a:avLst>
          </a:prstGeom>
          <a:solidFill>
            <a:srgbClr val="FAFBFD"/>
          </a:solidFill>
          <a:ln w="12700">
            <a:solidFill>
              <a:srgbClr val="DEE5E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37560" y="1152144"/>
            <a:ext cx="52578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3A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🔄 自演进飞轮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3447288" y="1426464"/>
            <a:ext cx="5038344" cy="1371600"/>
          </a:xfrm>
          <a:prstGeom prst="roundRect">
            <a:avLst>
              <a:gd name="adj" fmla="val 5333"/>
            </a:avLst>
          </a:prstGeom>
          <a:solidFill>
            <a:srgbClr val="E8F6F3"/>
          </a:solidFill>
          <a:ln w="25400">
            <a:solidFill>
              <a:srgbClr val="0D7C6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538728" y="1481328"/>
            <a:ext cx="548640" cy="219456"/>
          </a:xfrm>
          <a:prstGeom prst="ellipse">
            <a:avLst/>
          </a:prstGeom>
          <a:solidFill>
            <a:srgbClr val="0D7C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538728" y="1481328"/>
            <a:ext cx="54864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实时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160520" y="1481328"/>
            <a:ext cx="3657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7C6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Phase 1：Q-value 实时反馈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3538728" y="1755648"/>
            <a:ext cx="47548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Agent 调用记忆 → 任务成功/失败 → Q-value 自动更新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538728" y="1956816"/>
            <a:ext cx="47548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成功任务使用的记忆 → Q-value ↑  |  失败任务的记忆 → Q-value ↓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3538728" y="2139696"/>
            <a:ext cx="47548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更新公式：Q_new = Q_old + α×(reward - Q_old)，零 GPU，纯数值更新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538728" y="2322576"/>
            <a:ext cx="47548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7C6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MemRL 研究证实：Q-value 加权检索在复杂多步任务提升 56%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538728" y="2542032"/>
            <a:ext cx="1097280" cy="182880"/>
          </a:xfrm>
          <a:prstGeom prst="roundRect">
            <a:avLst>
              <a:gd name="adj" fmla="val 15000"/>
            </a:avLst>
          </a:prstGeom>
          <a:solidFill>
            <a:srgbClr val="0D7C66"/>
          </a:solidFill>
        </p:spPr>
      </p:sp>
      <p:sp>
        <p:nvSpPr>
          <p:cNvPr id="52" name="Text 50"/>
          <p:cNvSpPr/>
          <p:nvPr/>
        </p:nvSpPr>
        <p:spPr>
          <a:xfrm>
            <a:off x="3538728" y="2542032"/>
            <a:ext cx="10972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Lakebase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966460" y="2816352"/>
            <a:ext cx="914" cy="128016"/>
          </a:xfrm>
          <a:prstGeom prst="line">
            <a:avLst/>
          </a:prstGeom>
          <a:noFill/>
          <a:ln w="25400">
            <a:solidFill>
              <a:srgbClr val="0D7C66"/>
            </a:solidFill>
            <a:prstDash val="solid"/>
            <a:tailEnd type="triangle"/>
          </a:ln>
        </p:spPr>
      </p:sp>
      <p:sp>
        <p:nvSpPr>
          <p:cNvPr id="54" name="Text 52"/>
          <p:cNvSpPr/>
          <p:nvPr/>
        </p:nvSpPr>
        <p:spPr>
          <a:xfrm>
            <a:off x="5052060" y="2807208"/>
            <a:ext cx="1828800" cy="1280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7C6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Q-value 轨迹数据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3447288" y="2962656"/>
            <a:ext cx="5038344" cy="1371600"/>
          </a:xfrm>
          <a:prstGeom prst="roundRect">
            <a:avLst>
              <a:gd name="adj" fmla="val 5333"/>
            </a:avLst>
          </a:prstGeom>
          <a:solidFill>
            <a:srgbClr val="FEF3E8"/>
          </a:solidFill>
          <a:ln w="25400">
            <a:solidFill>
              <a:srgbClr val="B45309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538728" y="3017520"/>
            <a:ext cx="548640" cy="219456"/>
          </a:xfrm>
          <a:prstGeom prst="ellipse">
            <a:avLst/>
          </a:prstGeom>
          <a:solidFill>
            <a:srgbClr val="B4530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538728" y="3017520"/>
            <a:ext cx="54864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周级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4160520" y="3017520"/>
            <a:ext cx="3657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B4530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Phase 2：Lakebase 分支 A/B 实验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3538728" y="3291840"/>
            <a:ext cx="47548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Copy-on-Write 分支 → 同一用户数据运行不同策略 → 对比效果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3538728" y="3493008"/>
            <a:ext cx="47548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分支 A：高衰减策略  vs  分支 B：低衰减策略 → 聚合对比胜出上线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3538728" y="3675888"/>
            <a:ext cx="47548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DataLake 聚合 Q-value 轨迹 → 发现场景级模式（如：客服场景情绪记忆 Q-value 显著更高）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3538728" y="3858768"/>
            <a:ext cx="47548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4530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自动调整：该场景的情绪提取权重 ↑、检索排序权重 ↑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3538728" y="4078224"/>
            <a:ext cx="1097280" cy="182880"/>
          </a:xfrm>
          <a:prstGeom prst="roundRect">
            <a:avLst>
              <a:gd name="adj" fmla="val 15000"/>
            </a:avLst>
          </a:prstGeom>
          <a:solidFill>
            <a:srgbClr val="B45309"/>
          </a:solidFill>
        </p:spPr>
      </p:sp>
      <p:sp>
        <p:nvSpPr>
          <p:cNvPr id="64" name="Text 62"/>
          <p:cNvSpPr/>
          <p:nvPr/>
        </p:nvSpPr>
        <p:spPr>
          <a:xfrm>
            <a:off x="3538728" y="4078224"/>
            <a:ext cx="10972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分支实验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727448" y="4078224"/>
            <a:ext cx="1097280" cy="182880"/>
          </a:xfrm>
          <a:prstGeom prst="roundRect">
            <a:avLst>
              <a:gd name="adj" fmla="val 15000"/>
            </a:avLst>
          </a:prstGeom>
          <a:solidFill>
            <a:srgbClr val="0078B8"/>
          </a:solidFill>
        </p:spPr>
      </p:sp>
      <p:sp>
        <p:nvSpPr>
          <p:cNvPr id="66" name="Text 64"/>
          <p:cNvSpPr/>
          <p:nvPr/>
        </p:nvSpPr>
        <p:spPr>
          <a:xfrm>
            <a:off x="4727448" y="4078224"/>
            <a:ext cx="10972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AI DataLake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5966460" y="4352544"/>
            <a:ext cx="914" cy="128016"/>
          </a:xfrm>
          <a:prstGeom prst="line">
            <a:avLst/>
          </a:prstGeom>
          <a:noFill/>
          <a:ln w="25400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68" name="Text 66"/>
          <p:cNvSpPr/>
          <p:nvPr/>
        </p:nvSpPr>
        <p:spPr>
          <a:xfrm>
            <a:off x="5052060" y="4343400"/>
            <a:ext cx="1828800" cy="1280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4530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策略对比数据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3447288" y="4498848"/>
            <a:ext cx="5038344" cy="1371600"/>
          </a:xfrm>
          <a:prstGeom prst="roundRect">
            <a:avLst>
              <a:gd name="adj" fmla="val 5333"/>
            </a:avLst>
          </a:prstGeom>
          <a:solidFill>
            <a:srgbClr val="F3EDF9"/>
          </a:solidFill>
          <a:ln w="25400">
            <a:solidFill>
              <a:srgbClr val="6B3FA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538728" y="4553712"/>
            <a:ext cx="640080" cy="219456"/>
          </a:xfrm>
          <a:prstGeom prst="ellipse">
            <a:avLst/>
          </a:prstGeom>
          <a:solidFill>
            <a:srgbClr val="6B3F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538728" y="4553712"/>
            <a:ext cx="6400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月/季度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4251960" y="4553712"/>
            <a:ext cx="3657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B3FA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Phase 3：RL 策略模型训练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3538728" y="4828032"/>
            <a:ext cx="47548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导出 Q-value 轨迹 + Trait 证据链 → Lance 格式训练数据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3538728" y="5029200"/>
            <a:ext cx="47548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RL 训练策略网络：输入(场景特征+记忆数据) → 输出(最优策略参数向量)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3538728" y="5212080"/>
            <a:ext cx="47548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DPO 对比：好策略 vs 差策略 → 4B-8B 专用策略模型（Dria 证实 4B 专用 &gt; 70B 通用）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3538728" y="5394960"/>
            <a:ext cx="47548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3FA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新场景冷启动：用已学场景的策略模型做迁移学习，几周内自动收敛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3538728" y="5614416"/>
            <a:ext cx="822960" cy="182880"/>
          </a:xfrm>
          <a:prstGeom prst="roundRect">
            <a:avLst>
              <a:gd name="adj" fmla="val 15000"/>
            </a:avLst>
          </a:prstGeom>
          <a:solidFill>
            <a:srgbClr val="6B3FA0"/>
          </a:solidFill>
        </p:spPr>
      </p:sp>
      <p:sp>
        <p:nvSpPr>
          <p:cNvPr id="78" name="Text 76"/>
          <p:cNvSpPr/>
          <p:nvPr/>
        </p:nvSpPr>
        <p:spPr>
          <a:xfrm>
            <a:off x="3538728" y="5614416"/>
            <a:ext cx="8229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Ray RL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4453128" y="5614416"/>
            <a:ext cx="914400" cy="182880"/>
          </a:xfrm>
          <a:prstGeom prst="roundRect">
            <a:avLst>
              <a:gd name="adj" fmla="val 15000"/>
            </a:avLst>
          </a:prstGeom>
          <a:solidFill>
            <a:srgbClr val="C0392B"/>
          </a:solidFill>
        </p:spPr>
      </p:sp>
      <p:sp>
        <p:nvSpPr>
          <p:cNvPr id="80" name="Text 78"/>
          <p:cNvSpPr/>
          <p:nvPr/>
        </p:nvSpPr>
        <p:spPr>
          <a:xfrm>
            <a:off x="4453128" y="5614416"/>
            <a:ext cx="9144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NPU/GPU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3264408" y="5184648"/>
            <a:ext cx="128016" cy="914"/>
          </a:xfrm>
          <a:prstGeom prst="line">
            <a:avLst/>
          </a:prstGeom>
          <a:noFill/>
          <a:ln w="19050">
            <a:solidFill>
              <a:srgbClr val="6B3FA0"/>
            </a:solidFill>
            <a:prstDash val="dash"/>
          </a:ln>
        </p:spPr>
      </p:sp>
      <p:sp>
        <p:nvSpPr>
          <p:cNvPr id="82" name="Shape 80"/>
          <p:cNvSpPr/>
          <p:nvPr/>
        </p:nvSpPr>
        <p:spPr>
          <a:xfrm>
            <a:off x="3264408" y="2112264"/>
            <a:ext cx="914" cy="3072384"/>
          </a:xfrm>
          <a:prstGeom prst="line">
            <a:avLst/>
          </a:prstGeom>
          <a:noFill/>
          <a:ln w="19050">
            <a:solidFill>
              <a:srgbClr val="6B3FA0"/>
            </a:solidFill>
            <a:prstDash val="dash"/>
          </a:ln>
        </p:spPr>
      </p:sp>
      <p:sp>
        <p:nvSpPr>
          <p:cNvPr id="83" name="Shape 81"/>
          <p:cNvSpPr/>
          <p:nvPr/>
        </p:nvSpPr>
        <p:spPr>
          <a:xfrm>
            <a:off x="3264408" y="2112264"/>
            <a:ext cx="182880" cy="914"/>
          </a:xfrm>
          <a:prstGeom prst="line">
            <a:avLst/>
          </a:prstGeom>
          <a:noFill/>
          <a:ln w="19050">
            <a:solidFill>
              <a:srgbClr val="6B3FA0"/>
            </a:solidFill>
            <a:prstDash val="solid"/>
            <a:tailEnd type="triangle"/>
          </a:ln>
        </p:spPr>
      </p:sp>
      <p:sp>
        <p:nvSpPr>
          <p:cNvPr id="84" name="Text 82"/>
          <p:cNvSpPr/>
          <p:nvPr/>
        </p:nvSpPr>
        <p:spPr>
          <a:xfrm>
            <a:off x="2834640" y="3511296"/>
            <a:ext cx="594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3FA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策略模型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B3FA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更新参数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8823960" y="1133856"/>
            <a:ext cx="31546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3A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场景策略自动演进</a:t>
            </a:r>
            <a:endParaRPr lang="en-US" sz="1200" dirty="0"/>
          </a:p>
        </p:txBody>
      </p:sp>
      <p:sp>
        <p:nvSpPr>
          <p:cNvPr id="86" name="Shape 84"/>
          <p:cNvSpPr/>
          <p:nvPr/>
        </p:nvSpPr>
        <p:spPr>
          <a:xfrm>
            <a:off x="8823960" y="1389888"/>
            <a:ext cx="3154680" cy="402336"/>
          </a:xfrm>
          <a:prstGeom prst="roundRect">
            <a:avLst>
              <a:gd name="adj" fmla="val 13636"/>
            </a:avLst>
          </a:prstGeom>
          <a:solidFill>
            <a:srgbClr val="E8F6F3"/>
          </a:solidFill>
          <a:ln w="12700">
            <a:solidFill>
              <a:srgbClr val="0D7C66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8823960" y="1389888"/>
            <a:ext cx="36576" cy="402336"/>
          </a:xfrm>
          <a:prstGeom prst="rect">
            <a:avLst/>
          </a:prstGeom>
          <a:solidFill>
            <a:srgbClr val="0D7C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915400" y="1408176"/>
            <a:ext cx="7315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7C6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🎧 客服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11201400" y="1417320"/>
            <a:ext cx="713232" cy="164592"/>
          </a:xfrm>
          <a:prstGeom prst="roundRect">
            <a:avLst>
              <a:gd name="adj" fmla="val 16667"/>
            </a:avLst>
          </a:prstGeom>
          <a:solidFill>
            <a:srgbClr val="0D7C66"/>
          </a:solidFill>
        </p:spPr>
      </p:sp>
      <p:sp>
        <p:nvSpPr>
          <p:cNvPr id="90" name="Text 88"/>
          <p:cNvSpPr/>
          <p:nvPr/>
        </p:nvSpPr>
        <p:spPr>
          <a:xfrm>
            <a:off x="11201400" y="1417320"/>
            <a:ext cx="713232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~3 周收敛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8915400" y="1591056"/>
            <a:ext cx="292608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自动学会：情绪记忆权重 &gt; 事实记忆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8823960" y="1828800"/>
            <a:ext cx="3154680" cy="402336"/>
          </a:xfrm>
          <a:prstGeom prst="roundRect">
            <a:avLst>
              <a:gd name="adj" fmla="val 13636"/>
            </a:avLst>
          </a:prstGeom>
          <a:solidFill>
            <a:srgbClr val="FEF3E8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8823960" y="1828800"/>
            <a:ext cx="36576" cy="402336"/>
          </a:xfrm>
          <a:prstGeom prst="rect">
            <a:avLst/>
          </a:prstGeom>
          <a:solidFill>
            <a:srgbClr val="B4530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8915400" y="1847088"/>
            <a:ext cx="7315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4530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💼 销售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11201400" y="1856232"/>
            <a:ext cx="713232" cy="164592"/>
          </a:xfrm>
          <a:prstGeom prst="roundRect">
            <a:avLst>
              <a:gd name="adj" fmla="val 16667"/>
            </a:avLst>
          </a:prstGeom>
          <a:solidFill>
            <a:srgbClr val="B45309"/>
          </a:solidFill>
        </p:spPr>
      </p:sp>
      <p:sp>
        <p:nvSpPr>
          <p:cNvPr id="96" name="Text 94"/>
          <p:cNvSpPr/>
          <p:nvPr/>
        </p:nvSpPr>
        <p:spPr>
          <a:xfrm>
            <a:off x="11201400" y="1856232"/>
            <a:ext cx="713232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~4 周收敛</a:t>
            </a:r>
            <a:endParaRPr lang="en-US" sz="800" dirty="0"/>
          </a:p>
        </p:txBody>
      </p:sp>
      <p:sp>
        <p:nvSpPr>
          <p:cNvPr id="97" name="Text 95"/>
          <p:cNvSpPr/>
          <p:nvPr/>
        </p:nvSpPr>
        <p:spPr>
          <a:xfrm>
            <a:off x="8915400" y="2029968"/>
            <a:ext cx="292608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自动学会：决策人+竞品提及 重点提取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8823960" y="2267712"/>
            <a:ext cx="3154680" cy="402336"/>
          </a:xfrm>
          <a:prstGeom prst="roundRect">
            <a:avLst>
              <a:gd name="adj" fmla="val 13636"/>
            </a:avLst>
          </a:prstGeom>
          <a:solidFill>
            <a:srgbClr val="F3EDF9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8823960" y="2267712"/>
            <a:ext cx="36576" cy="402336"/>
          </a:xfrm>
          <a:prstGeom prst="rect">
            <a:avLst/>
          </a:prstGeom>
          <a:solidFill>
            <a:srgbClr val="6B3F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8915400" y="2286000"/>
            <a:ext cx="7315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3FA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📚 教育</a:t>
            </a:r>
            <a:endParaRPr lang="en-US" sz="1000" dirty="0"/>
          </a:p>
        </p:txBody>
      </p:sp>
      <p:sp>
        <p:nvSpPr>
          <p:cNvPr id="101" name="Shape 99"/>
          <p:cNvSpPr/>
          <p:nvPr/>
        </p:nvSpPr>
        <p:spPr>
          <a:xfrm>
            <a:off x="11201400" y="2295144"/>
            <a:ext cx="713232" cy="164592"/>
          </a:xfrm>
          <a:prstGeom prst="roundRect">
            <a:avLst>
              <a:gd name="adj" fmla="val 16667"/>
            </a:avLst>
          </a:prstGeom>
          <a:solidFill>
            <a:srgbClr val="6B3FA0"/>
          </a:solidFill>
        </p:spPr>
      </p:sp>
      <p:sp>
        <p:nvSpPr>
          <p:cNvPr id="102" name="Text 100"/>
          <p:cNvSpPr/>
          <p:nvPr/>
        </p:nvSpPr>
        <p:spPr>
          <a:xfrm>
            <a:off x="11201400" y="2295144"/>
            <a:ext cx="713232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~2 周收敛</a:t>
            </a:r>
            <a:endParaRPr lang="en-US" sz="800" dirty="0"/>
          </a:p>
        </p:txBody>
      </p:sp>
      <p:sp>
        <p:nvSpPr>
          <p:cNvPr id="103" name="Text 101"/>
          <p:cNvSpPr/>
          <p:nvPr/>
        </p:nvSpPr>
        <p:spPr>
          <a:xfrm>
            <a:off x="8915400" y="2468880"/>
            <a:ext cx="292608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自动学会：知识点永不衰减+错题高权重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8823960" y="2706624"/>
            <a:ext cx="3154680" cy="402336"/>
          </a:xfrm>
          <a:prstGeom prst="roundRect">
            <a:avLst>
              <a:gd name="adj" fmla="val 13636"/>
            </a:avLst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8823960" y="2706624"/>
            <a:ext cx="36576" cy="402336"/>
          </a:xfrm>
          <a:prstGeom prst="rect">
            <a:avLst/>
          </a:prstGeom>
          <a:solidFill>
            <a:srgbClr val="C03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8915400" y="2724912"/>
            <a:ext cx="7315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0392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🏥 医疗</a:t>
            </a:r>
            <a:endParaRPr lang="en-US" sz="1000" dirty="0"/>
          </a:p>
        </p:txBody>
      </p:sp>
      <p:sp>
        <p:nvSpPr>
          <p:cNvPr id="107" name="Shape 105"/>
          <p:cNvSpPr/>
          <p:nvPr/>
        </p:nvSpPr>
        <p:spPr>
          <a:xfrm>
            <a:off x="11201400" y="2734056"/>
            <a:ext cx="713232" cy="164592"/>
          </a:xfrm>
          <a:prstGeom prst="roundRect">
            <a:avLst>
              <a:gd name="adj" fmla="val 16667"/>
            </a:avLst>
          </a:prstGeom>
          <a:solidFill>
            <a:srgbClr val="C0392B"/>
          </a:solidFill>
        </p:spPr>
      </p:sp>
      <p:sp>
        <p:nvSpPr>
          <p:cNvPr id="108" name="Text 106"/>
          <p:cNvSpPr/>
          <p:nvPr/>
        </p:nvSpPr>
        <p:spPr>
          <a:xfrm>
            <a:off x="11201400" y="2734056"/>
            <a:ext cx="713232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~4 周收敛</a:t>
            </a:r>
            <a:endParaRPr lang="en-US" sz="800" dirty="0"/>
          </a:p>
        </p:txBody>
      </p:sp>
      <p:sp>
        <p:nvSpPr>
          <p:cNvPr id="109" name="Text 107"/>
          <p:cNvSpPr/>
          <p:nvPr/>
        </p:nvSpPr>
        <p:spPr>
          <a:xfrm>
            <a:off x="8915400" y="2907792"/>
            <a:ext cx="292608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自动学会：append-only + 症状时序链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8823960" y="3145536"/>
            <a:ext cx="3154680" cy="402336"/>
          </a:xfrm>
          <a:prstGeom prst="roundRect">
            <a:avLst>
              <a:gd name="adj" fmla="val 13636"/>
            </a:avLst>
          </a:prstGeom>
          <a:solidFill>
            <a:srgbClr val="E3F0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8823960" y="3145536"/>
            <a:ext cx="36576" cy="402336"/>
          </a:xfrm>
          <a:prstGeom prst="rect">
            <a:avLst/>
          </a:prstGeom>
          <a:solidFill>
            <a:srgbClr val="1565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8915400" y="3163824"/>
            <a:ext cx="7315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565C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⚖️ 法律</a:t>
            </a:r>
            <a:endParaRPr lang="en-US" sz="1000" dirty="0"/>
          </a:p>
        </p:txBody>
      </p:sp>
      <p:sp>
        <p:nvSpPr>
          <p:cNvPr id="113" name="Shape 111"/>
          <p:cNvSpPr/>
          <p:nvPr/>
        </p:nvSpPr>
        <p:spPr>
          <a:xfrm>
            <a:off x="11201400" y="3172968"/>
            <a:ext cx="713232" cy="164592"/>
          </a:xfrm>
          <a:prstGeom prst="roundRect">
            <a:avLst>
              <a:gd name="adj" fmla="val 16667"/>
            </a:avLst>
          </a:prstGeom>
          <a:solidFill>
            <a:srgbClr val="1565C0"/>
          </a:solidFill>
        </p:spPr>
      </p:sp>
      <p:sp>
        <p:nvSpPr>
          <p:cNvPr id="114" name="Text 112"/>
          <p:cNvSpPr/>
          <p:nvPr/>
        </p:nvSpPr>
        <p:spPr>
          <a:xfrm>
            <a:off x="11201400" y="3172968"/>
            <a:ext cx="713232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~6 周收敛</a:t>
            </a:r>
            <a:endParaRPr lang="en-US" sz="800" dirty="0"/>
          </a:p>
        </p:txBody>
      </p:sp>
      <p:sp>
        <p:nvSpPr>
          <p:cNvPr id="115" name="Text 113"/>
          <p:cNvSpPr/>
          <p:nvPr/>
        </p:nvSpPr>
        <p:spPr>
          <a:xfrm>
            <a:off x="8915400" y="3346704"/>
            <a:ext cx="292608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自动学会：先例关联 + 法规版本追踪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8823960" y="3584448"/>
            <a:ext cx="3154680" cy="402336"/>
          </a:xfrm>
          <a:prstGeom prst="roundRect">
            <a:avLst>
              <a:gd name="adj" fmla="val 13636"/>
            </a:avLst>
          </a:prstGeom>
          <a:solidFill>
            <a:srgbClr val="FDF9E8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8823960" y="3584448"/>
            <a:ext cx="36576" cy="402336"/>
          </a:xfrm>
          <a:prstGeom prst="rect">
            <a:avLst/>
          </a:prstGeom>
          <a:solidFill>
            <a:srgbClr val="7D660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8915400" y="3602736"/>
            <a:ext cx="7315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D660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🔬 研究</a:t>
            </a:r>
            <a:endParaRPr lang="en-US" sz="1000" dirty="0"/>
          </a:p>
        </p:txBody>
      </p:sp>
      <p:sp>
        <p:nvSpPr>
          <p:cNvPr id="119" name="Shape 117"/>
          <p:cNvSpPr/>
          <p:nvPr/>
        </p:nvSpPr>
        <p:spPr>
          <a:xfrm>
            <a:off x="11201400" y="3611880"/>
            <a:ext cx="713232" cy="164592"/>
          </a:xfrm>
          <a:prstGeom prst="roundRect">
            <a:avLst>
              <a:gd name="adj" fmla="val 16667"/>
            </a:avLst>
          </a:prstGeom>
          <a:solidFill>
            <a:srgbClr val="7D6608"/>
          </a:solidFill>
        </p:spPr>
      </p:sp>
      <p:sp>
        <p:nvSpPr>
          <p:cNvPr id="120" name="Text 118"/>
          <p:cNvSpPr/>
          <p:nvPr/>
        </p:nvSpPr>
        <p:spPr>
          <a:xfrm>
            <a:off x="11201400" y="3611880"/>
            <a:ext cx="713232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~5 周收敛</a:t>
            </a:r>
            <a:endParaRPr lang="en-US" sz="800" dirty="0"/>
          </a:p>
        </p:txBody>
      </p:sp>
      <p:sp>
        <p:nvSpPr>
          <p:cNvPr id="121" name="Text 119"/>
          <p:cNvSpPr/>
          <p:nvPr/>
        </p:nvSpPr>
        <p:spPr>
          <a:xfrm>
            <a:off x="8915400" y="3785616"/>
            <a:ext cx="292608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自动学会：论点链保留 + 矛盾检测</a:t>
            </a:r>
            <a:endParaRPr lang="en-US" sz="900" dirty="0"/>
          </a:p>
        </p:txBody>
      </p:sp>
      <p:sp>
        <p:nvSpPr>
          <p:cNvPr id="122" name="Shape 120"/>
          <p:cNvSpPr/>
          <p:nvPr/>
        </p:nvSpPr>
        <p:spPr>
          <a:xfrm>
            <a:off x="8823960" y="4078224"/>
            <a:ext cx="3154680" cy="475488"/>
          </a:xfrm>
          <a:prstGeom prst="roundRect">
            <a:avLst>
              <a:gd name="adj" fmla="val 11538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8915400" y="4114800"/>
            <a:ext cx="29260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D7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跨场景迁移学习</a:t>
            </a:r>
            <a:endParaRPr lang="en-US" sz="1000" dirty="0"/>
          </a:p>
        </p:txBody>
      </p:sp>
      <p:sp>
        <p:nvSpPr>
          <p:cNvPr id="124" name="Text 122"/>
          <p:cNvSpPr/>
          <p:nvPr/>
        </p:nvSpPr>
        <p:spPr>
          <a:xfrm>
            <a:off x="8915400" y="4297680"/>
            <a:ext cx="2926080" cy="21945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新场景上线 → 已学策略模型热启动 → 几周内自动收敛到最优</a:t>
            </a:r>
            <a:endParaRPr lang="en-US" sz="900" dirty="0"/>
          </a:p>
        </p:txBody>
      </p:sp>
      <p:sp>
        <p:nvSpPr>
          <p:cNvPr id="125" name="Text 123"/>
          <p:cNvSpPr/>
          <p:nvPr/>
        </p:nvSpPr>
        <p:spPr>
          <a:xfrm>
            <a:off x="8823960" y="4626864"/>
            <a:ext cx="31546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3A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为什么竞品无法复制</a:t>
            </a:r>
            <a:endParaRPr lang="en-US" sz="1200" dirty="0"/>
          </a:p>
        </p:txBody>
      </p:sp>
      <p:sp>
        <p:nvSpPr>
          <p:cNvPr id="126" name="Text 124"/>
          <p:cNvSpPr/>
          <p:nvPr/>
        </p:nvSpPr>
        <p:spPr>
          <a:xfrm>
            <a:off x="8823960" y="4864608"/>
            <a:ext cx="31546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Mem0 / MemOS：</a:t>
            </a:r>
            <a:r>
              <a:rPr lang="en-US" sz="900" dirty="0">
                <a:solidFill>
                  <a:srgbClr val="C0392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无 Q-value 反馈，策略写死在代码里</a:t>
            </a:r>
            <a:endParaRPr lang="en-US" sz="900" dirty="0"/>
          </a:p>
        </p:txBody>
      </p:sp>
      <p:sp>
        <p:nvSpPr>
          <p:cNvPr id="127" name="Text 125"/>
          <p:cNvSpPr/>
          <p:nvPr/>
        </p:nvSpPr>
        <p:spPr>
          <a:xfrm>
            <a:off x="8823960" y="5065776"/>
            <a:ext cx="31546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Supermemory：</a:t>
            </a:r>
            <a:r>
              <a:rPr lang="en-US" sz="900" dirty="0">
                <a:solidFill>
                  <a:srgbClr val="C0392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有图谱但无学习闭环，无法自优化</a:t>
            </a:r>
            <a:endParaRPr lang="en-US" sz="900" dirty="0"/>
          </a:p>
        </p:txBody>
      </p:sp>
      <p:sp>
        <p:nvSpPr>
          <p:cNvPr id="128" name="Text 126"/>
          <p:cNvSpPr/>
          <p:nvPr/>
        </p:nvSpPr>
        <p:spPr>
          <a:xfrm>
            <a:off x="8823960" y="5266944"/>
            <a:ext cx="31546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HydraDB：</a:t>
            </a:r>
            <a:r>
              <a:rPr lang="en-US" sz="900" dirty="0">
                <a:solidFill>
                  <a:srgbClr val="C0392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高精度但静态策略，不能适应场景变化</a:t>
            </a:r>
            <a:endParaRPr lang="en-US" sz="900" dirty="0"/>
          </a:p>
        </p:txBody>
      </p:sp>
      <p:sp>
        <p:nvSpPr>
          <p:cNvPr id="129" name="Text 127"/>
          <p:cNvSpPr/>
          <p:nvPr/>
        </p:nvSpPr>
        <p:spPr>
          <a:xfrm>
            <a:off x="8823960" y="5468112"/>
            <a:ext cx="31546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手工 Preset：</a:t>
            </a:r>
            <a:r>
              <a:rPr lang="en-US" sz="900" dirty="0">
                <a:solidFill>
                  <a:srgbClr val="C0392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需领域专家，不能演进，会过时</a:t>
            </a:r>
            <a:endParaRPr lang="en-US" sz="900" dirty="0"/>
          </a:p>
        </p:txBody>
      </p:sp>
      <p:sp>
        <p:nvSpPr>
          <p:cNvPr id="130" name="Shape 128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1A3A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365760" y="6437376"/>
            <a:ext cx="11457432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竞争力本质：</a:t>
            </a:r>
            <a:r>
              <a:rPr lang="en-US" sz="1300" b="1" dirty="0">
                <a:solidFill>
                  <a:srgbClr val="FFD7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竞品在设计记忆策略，我们在学习记忆策略。</a:t>
            </a:r>
            <a:endParaRPr lang="en-US" sz="1300" dirty="0"/>
          </a:p>
        </p:txBody>
      </p:sp>
      <p:sp>
        <p:nvSpPr>
          <p:cNvPr id="132" name="Text 130"/>
          <p:cNvSpPr/>
          <p:nvPr/>
        </p:nvSpPr>
        <p:spPr>
          <a:xfrm>
            <a:off x="365760" y="6638544"/>
            <a:ext cx="11457432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D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Lakebase 分支实验  ×  DataLake 批量分析  ×  Q-value 闭环反馈  ×  Ray RL 策略训练  =  自演进飞轮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5356</Words>
  <Application>WPS 文字</Application>
  <PresentationFormat>On-screen Show (16:9)</PresentationFormat>
  <Paragraphs>717</Paragraphs>
  <Slides>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20" baseType="lpstr">
      <vt:lpstr>Arial</vt:lpstr>
      <vt:lpstr>宋体</vt:lpstr>
      <vt:lpstr>Wingdings</vt:lpstr>
      <vt:lpstr>Arial</vt:lpstr>
      <vt:lpstr>Arial</vt:lpstr>
      <vt:lpstr>宋体</vt:lpstr>
      <vt:lpstr>汉仪书宋二KW</vt:lpstr>
      <vt:lpstr>Calibri</vt:lpstr>
      <vt:lpstr>Helvetica Neue</vt:lpstr>
      <vt:lpstr>Apple Color Emoji</vt:lpstr>
      <vt:lpstr>微软雅黑</vt:lpstr>
      <vt:lpstr>汉仪旗黑</vt:lpstr>
      <vt:lpstr>Arial Unicode MS</vt:lpstr>
      <vt:lpstr>等线</vt:lpstr>
      <vt:lpstr>汉仪中等线KW</vt:lpstr>
      <vt:lpstr>Office Theme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自演进记忆策略</dc:title>
  <dc:creator>DBay Team</dc:creator>
  <dc:subject>PptxGenJS Presentation</dc:subject>
  <cp:lastModifiedBy>Jacky</cp:lastModifiedBy>
  <cp:revision>19</cp:revision>
  <dcterms:created xsi:type="dcterms:W3CDTF">2026-03-29T14:54:22Z</dcterms:created>
  <dcterms:modified xsi:type="dcterms:W3CDTF">2026-03-29T14:54:22Z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2052-12.1.24709.24709</vt:lpwstr>
  </property>
  <property fmtid="{D5CDD505-2E9C-101B-9397-08002B2CF9AE}" pid="3" name="ICV">
    <vt:lpwstr>0BBDC4015B38117ADD36C969DB0B32A7_42</vt:lpwstr>
  </property>
</Properties>
</file>