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DBay 数据港湾 - 系统架构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365760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 Agent 的 Serverless 数据底座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F0EBF8"/>
          </a:solidFill>
          <a:ln w="25400">
            <a:solidFill>
              <a:srgbClr val="7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接入层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8595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47088" y="8595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19856" y="8595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SDK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92624" y="8595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65392" y="8595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编排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04241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Claude / GPT / Gemini 等多种 Agent 接入 · 标准化工具协议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1234440"/>
            <a:ext cx="914" cy="128016"/>
          </a:xfrm>
          <a:prstGeom prst="line">
            <a:avLst/>
          </a:prstGeom>
          <a:noFill/>
          <a:ln w="12700">
            <a:solidFill>
              <a:srgbClr val="7B5E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234440"/>
            <a:ext cx="914" cy="128016"/>
          </a:xfrm>
          <a:prstGeom prst="line">
            <a:avLst/>
          </a:prstGeom>
          <a:noFill/>
          <a:ln w="12700">
            <a:solidFill>
              <a:srgbClr val="7B5E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34440"/>
            <a:ext cx="914" cy="128016"/>
          </a:xfrm>
          <a:prstGeom prst="line">
            <a:avLst/>
          </a:prstGeom>
          <a:noFill/>
          <a:ln w="12700">
            <a:solidFill>
              <a:srgbClr val="7B5E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234440"/>
            <a:ext cx="914" cy="128016"/>
          </a:xfrm>
          <a:prstGeom prst="line">
            <a:avLst/>
          </a:prstGeom>
          <a:noFill/>
          <a:ln w="12700">
            <a:solidFill>
              <a:srgbClr val="7B5E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362456"/>
            <a:ext cx="7863840" cy="2011680"/>
          </a:xfrm>
          <a:prstGeom prst="roundRect">
            <a:avLst>
              <a:gd name="adj" fmla="val 3636"/>
            </a:avLst>
          </a:prstGeom>
          <a:solidFill>
            <a:srgbClr val="FFFDE7"/>
          </a:solidFill>
          <a:ln w="25400">
            <a:solidFill>
              <a:srgbClr val="C8A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38074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认知数据层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58191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609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" y="1819656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文档解析与切片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" y="1975104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融合检索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" y="2130552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表知识库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" y="2286000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版本管理 + 回滚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158191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C07B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1609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B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86584" y="1819656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长期记忆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86584" y="1975104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多类型记忆管理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86584" y="2130552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语义检索 + 时间衰减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86584" y="2286000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记忆压缩与合并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51960" y="158191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EDE0"/>
          </a:solidFill>
          <a:ln w="19050">
            <a:solidFill>
              <a:srgbClr val="A061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1609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6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对话历史库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06824" y="1819656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多轮对话存储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06824" y="1975104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会话上下文管理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06824" y="2130552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轨迹回放与分析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06824" y="2286000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对话数据导出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158191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EFCE8"/>
          </a:solidFill>
          <a:ln w="19050">
            <a:solidFill>
              <a:srgbClr val="A69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609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9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27064" y="1819656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运行状态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7064" y="1975104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任务进度追踪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27064" y="2130552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配置与偏好存储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27064" y="2286000"/>
            <a:ext cx="17190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检查点与恢复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2569464"/>
            <a:ext cx="7589520" cy="530352"/>
          </a:xfrm>
          <a:prstGeom prst="roundRect">
            <a:avLst>
              <a:gd name="adj" fmla="val 10345"/>
            </a:avLst>
          </a:prstGeom>
          <a:solidFill>
            <a:srgbClr val="FFF9C4"/>
          </a:solidFill>
          <a:ln w="12700">
            <a:solidFill>
              <a:srgbClr val="C8A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2587752"/>
            <a:ext cx="7589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共性需求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2734056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轻量化快速弹性 · 快速启动 · 多分支支持 Agent 并行试错和恢复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2889504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 + 全文检索 + 图 + 结构化融合检索 · 多模态数据沉淀、加工与分析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325880" y="3374136"/>
            <a:ext cx="914" cy="128016"/>
          </a:xfrm>
          <a:prstGeom prst="line">
            <a:avLst/>
          </a:prstGeom>
          <a:noFill/>
          <a:ln w="12700">
            <a:solidFill>
              <a:srgbClr val="B886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3374136"/>
            <a:ext cx="914" cy="128016"/>
          </a:xfrm>
          <a:prstGeom prst="line">
            <a:avLst/>
          </a:prstGeom>
          <a:noFill/>
          <a:ln w="12700">
            <a:solidFill>
              <a:srgbClr val="C07B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66360" y="3374136"/>
            <a:ext cx="914" cy="128016"/>
          </a:xfrm>
          <a:prstGeom prst="line">
            <a:avLst/>
          </a:prstGeom>
          <a:noFill/>
          <a:ln w="12700">
            <a:solidFill>
              <a:srgbClr val="A061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86600" y="3374136"/>
            <a:ext cx="914" cy="128016"/>
          </a:xfrm>
          <a:prstGeom prst="line">
            <a:avLst/>
          </a:prstGeom>
          <a:noFill/>
          <a:ln w="12700">
            <a:solidFill>
              <a:srgbClr val="A690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502152"/>
            <a:ext cx="3774643" cy="896112"/>
          </a:xfrm>
          <a:prstGeom prst="roundRect">
            <a:avLst>
              <a:gd name="adj" fmla="val 8163"/>
            </a:avLst>
          </a:prstGeom>
          <a:solidFill>
            <a:srgbClr val="E1F5FE"/>
          </a:solidFill>
          <a:ln w="31750">
            <a:solidFill>
              <a:srgbClr val="0078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529584"/>
            <a:ext cx="377464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Lakebase (Neon 内核)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74320" y="3758184"/>
            <a:ext cx="37746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存算分离 · 多版本 · 时间旅行 · 分支管理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74320" y="3904488"/>
            <a:ext cx="37746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按需启动 (3ms) · 自动扩缩容 · 多租户隔离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74320" y="4050792"/>
            <a:ext cx="37746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· zhparser · AGE Graph · PostGIS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1874" y="3685032"/>
            <a:ext cx="50328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 →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11874" y="3913632"/>
            <a:ext cx="50328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同步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78070" y="3502152"/>
            <a:ext cx="3460090" cy="896112"/>
          </a:xfrm>
          <a:prstGeom prst="roundRect">
            <a:avLst>
              <a:gd name="adj" fmla="val 8163"/>
            </a:avLst>
          </a:prstGeom>
          <a:solidFill>
            <a:srgbClr val="E8F5E9"/>
          </a:solidFill>
          <a:ln w="31750">
            <a:solidFill>
              <a:srgbClr val="1B8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8070" y="3529584"/>
            <a:ext cx="34600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多模数据湖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678070" y="3758184"/>
            <a:ext cx="34600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多模态格式 (Lance + 自研) · Parquet 导出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678070" y="3904488"/>
            <a:ext cx="34600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Python/Ray 任务调度 · SFT/RL 训练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678070" y="4050792"/>
            <a:ext cx="34600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VM 隔离 · 增量 CDC 调度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61642" y="4398264"/>
            <a:ext cx="914" cy="128016"/>
          </a:xfrm>
          <a:prstGeom prst="line">
            <a:avLst/>
          </a:prstGeom>
          <a:noFill/>
          <a:ln w="12700">
            <a:solidFill>
              <a:srgbClr val="0078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8115" y="4398264"/>
            <a:ext cx="914" cy="128016"/>
          </a:xfrm>
          <a:prstGeom prst="line">
            <a:avLst/>
          </a:prstGeom>
          <a:noFill/>
          <a:ln w="12700">
            <a:solidFill>
              <a:srgbClr val="1B8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" y="4526280"/>
            <a:ext cx="7863840" cy="2258568"/>
          </a:xfrm>
          <a:prstGeom prst="roundRect">
            <a:avLst>
              <a:gd name="adj" fmla="val 3239"/>
            </a:avLst>
          </a:prstGeom>
          <a:solidFill>
            <a:srgbClr val="F5F7FA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54456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基础设施层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274320" y="4745736"/>
            <a:ext cx="131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(CCE)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584960" y="4745736"/>
            <a:ext cx="131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对象存储 (OBS)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895600" y="4745736"/>
            <a:ext cx="131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元数据库 (RDS)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206240" y="4745736"/>
            <a:ext cx="131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弹性节点池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516880" y="4745736"/>
            <a:ext cx="131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EP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827520" y="4745736"/>
            <a:ext cx="1310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NPU/GPU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74320" y="496519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关键基础设施需求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48640" y="51480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认知数据层 →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高性价比低时延 Token 服务 · 高质量多模态 Embedding 模型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8640" y="5312664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数据湖 →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多租 Ray/Python 作业安全隔离 · CCI 支持 NPU Pod (关键依赖)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412480" y="73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架构竞争力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8412480" y="640080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9050">
            <a:solidFill>
              <a:srgbClr val="7B5EA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12480" y="640080"/>
            <a:ext cx="54864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49640" y="6766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接入层竞争力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549640" y="877824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标准 MCP 协议，Agent 生态即插即用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549640" y="1033272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一套接口适配 Claude/GPT/Gemini 等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549640" y="1188720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L0/L1/L2 渐进式检索，Agent 按需下钻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412480" y="1362456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9050">
            <a:solidFill>
              <a:srgbClr val="C8A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12480" y="1362456"/>
            <a:ext cx="54864" cy="2011680"/>
          </a:xfrm>
          <a:prstGeom prst="rect">
            <a:avLst/>
          </a:prstGeom>
          <a:solidFill>
            <a:srgbClr val="C8A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549640" y="13990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认知数据层竞争力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8549640" y="1600200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步 Trait 反思引擎，Agent 持续学习用户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549640" y="1755648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Q-value 效用评分，检索即个性化(MemRL)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549640" y="1911096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LoCoMo 基准 82%，时序推理业界领先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549640" y="2066544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向量+BM25+图+结构化 RRF 融合检索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549640" y="2221992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多分支并行试错，Agent 可恢复探索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549640" y="2377440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知识全流程托管：解析→切片→Embedding→层级摘要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549640" y="2532888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数据飞轮：Q-value 反馈→批量优化→专用模型训练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412480" y="3502152"/>
            <a:ext cx="356616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19050">
            <a:solidFill>
              <a:srgbClr val="0078B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12480" y="3502152"/>
            <a:ext cx="54864" cy="896112"/>
          </a:xfrm>
          <a:prstGeom prst="rect">
            <a:avLst/>
          </a:prstGeom>
          <a:solidFill>
            <a:srgbClr val="00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49640" y="35387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存储引擎竞争力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8549640" y="3739896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国内唯一 Serverless PG，填补 Neon 空白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549640" y="3895344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Copy-on-Write 分支秒级创建零存储开销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549640" y="4050792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全能 PG：pgvector+BM25+Graph 单库融合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8549640" y="4206240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Lance 格式向量操作快 Parquet 100 倍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549640" y="4361688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层数据飞轮：运行时→批量→模型训练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8412480" y="4526280"/>
            <a:ext cx="3566160" cy="2258568"/>
          </a:xfrm>
          <a:prstGeom prst="roundRect">
            <a:avLst>
              <a:gd name="adj" fmla="val 2429"/>
            </a:avLst>
          </a:prstGeom>
          <a:solidFill>
            <a:srgbClr val="F8FAFC"/>
          </a:solidFill>
          <a:ln w="19050">
            <a:solidFill>
              <a:srgbClr val="607D8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12480" y="4526280"/>
            <a:ext cx="54864" cy="2258568"/>
          </a:xfrm>
          <a:prstGeom prst="rect">
            <a:avLst/>
          </a:prstGeom>
          <a:solidFill>
            <a:srgbClr val="607D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549640" y="45628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基础设施竞争力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8549640" y="4764024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华为云 CCE 原生，按需扩缩容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549640" y="4919472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CCI Serverless 容器，免运维零闲置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8549640" y="5074920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NPU/GPU 资源池支撑 AI 训练推理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8549640" y="5230368"/>
            <a:ext cx="32918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网络型 VPC EP 保障数据安全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DBay 数据港湾 - 系统架构</dc:title>
  <dc:subject>PptxGenJS Presentation</dc:subject>
  <dc:creator>DBay Team</dc:creator>
  <cp:lastModifiedBy>DBay Team</cp:lastModifiedBy>
  <cp:revision>1</cp:revision>
  <dcterms:created xsi:type="dcterms:W3CDTF">2026-03-29T13:42:35Z</dcterms:created>
  <dcterms:modified xsi:type="dcterms:W3CDTF">2026-03-29T13:42:35Z</dcterms:modified>
</cp:coreProperties>
</file>