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A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记忆库：如何构建有竞争力的 Agent 记忆系统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 MemRL / Supermemory / MemOS / HydraDB 等研究的竞争力分析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6858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核心差异化能力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987552"/>
            <a:ext cx="3657600" cy="1417320"/>
          </a:xfrm>
          <a:prstGeom prst="roundRect">
            <a:avLst>
              <a:gd name="adj" fmla="val 3871"/>
            </a:avLst>
          </a:prstGeom>
          <a:solidFill>
            <a:srgbClr val="F3EDF9"/>
          </a:solidFill>
          <a:ln w="19050">
            <a:solidFill>
              <a:srgbClr val="6B3F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987552"/>
            <a:ext cx="45720" cy="1417320"/>
          </a:xfrm>
          <a:prstGeom prst="rect">
            <a:avLst/>
          </a:prstGeom>
          <a:solidFill>
            <a:srgbClr val="6B3F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24128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3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Trait 反思引擎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225296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B3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竞品均无 — 唯一从对话中自动发现用户行为模式的系统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11480" y="1426464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9 步流水线：提取→聚合→置信度→证据链→生命周期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1609344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Trait 成熟度：trend → emerging → established → core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11480" y="1792224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自动纠偏：低置信度 Trait 持续验证或淘汰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11480" y="1975104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敏感信息过滤：自动识别并剥离 PII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11480" y="2157984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跨会话、跨项目积累，形成完整用户画像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4320" y="2487168"/>
            <a:ext cx="3657600" cy="1188720"/>
          </a:xfrm>
          <a:prstGeom prst="roundRect">
            <a:avLst>
              <a:gd name="adj" fmla="val 4615"/>
            </a:avLst>
          </a:prstGeom>
          <a:solidFill>
            <a:srgbClr val="FEF3E8"/>
          </a:solidFill>
          <a:ln w="19050">
            <a:solidFill>
              <a:srgbClr val="D4740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487168"/>
            <a:ext cx="45720" cy="1188720"/>
          </a:xfrm>
          <a:prstGeom prst="rect">
            <a:avLst/>
          </a:prstGeom>
          <a:solidFill>
            <a:srgbClr val="D4740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523744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474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Q-value 效用评分 (MemRL)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1480" y="2724912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D474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"个性化通过检索实现，而非微调" — Jeff Dean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11480" y="292608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每条记忆携带效用分 → 两阶段检索：相似度召回+效用排序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11480" y="310896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Q_new = Q_old + α×(reward - Q_old)，无需重训模型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11480" y="329184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MemRL 研究：复杂多步任务性能提升 56%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11480" y="347472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隐式反馈：召回→使用→结果 自动闭环更新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3767328"/>
            <a:ext cx="3657600" cy="1371600"/>
          </a:xfrm>
          <a:prstGeom prst="roundRect">
            <a:avLst>
              <a:gd name="adj" fmla="val 4000"/>
            </a:avLst>
          </a:prstGeom>
          <a:solidFill>
            <a:srgbClr val="EBF5EC"/>
          </a:solidFill>
          <a:ln w="19050">
            <a:solidFill>
              <a:srgbClr val="1B7A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3767328"/>
            <a:ext cx="45720" cy="1371600"/>
          </a:xfrm>
          <a:prstGeom prst="rect">
            <a:avLst/>
          </a:prstGeom>
          <a:solidFill>
            <a:srgbClr val="1B7A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803904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7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三层数据飞轮 — 不可复制的护城河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11480" y="4059936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7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 运行时</a:t>
            </a:r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每次会话更新 Q-value，即时个性化，零 GPU 成本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11480" y="4270248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7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 平台级</a:t>
            </a:r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聚合用户数据，批量清洗低质记忆，训练排序模型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1480" y="448056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7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3 专用模型</a:t>
            </a:r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4B-8B 记忆专用模型 (SFT+DPO+RL)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11480" y="4681728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1B7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Dria 研究证实：4B 专用模型 &gt; 70B+ 通用模型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11480" y="4846320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1B7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飞轮训练数据（Q-value 轨迹+Trait 证据链）为独有资产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160520" y="6858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架构与技术优势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160520" y="987552"/>
            <a:ext cx="3840480" cy="1965960"/>
          </a:xfrm>
          <a:prstGeom prst="roundRect">
            <a:avLst>
              <a:gd name="adj" fmla="val 2791"/>
            </a:avLst>
          </a:prstGeom>
          <a:solidFill>
            <a:srgbClr val="E8F0FE"/>
          </a:solidFill>
          <a:ln w="19050">
            <a:solidFill>
              <a:srgbClr val="0070C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60520" y="987552"/>
            <a:ext cx="45720" cy="1965960"/>
          </a:xfrm>
          <a:prstGeom prst="rect">
            <a:avLst/>
          </a:prstGeom>
          <a:solidFill>
            <a:srgbClr val="0070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97680" y="1024128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单库融合 vs 竞品多库碎片化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297680" y="128016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pgvector + BM25 + Graph 单库融合，ACID 一致性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297680" y="148132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竞品需 3-4 个独立数据库，跨库查询复杂度高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297680" y="168249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5 种结构化记忆类型：Fact/Episode/Trait/Procedural/Doc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297680" y="1883664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双时间线：valid_from/valid_until 支持时间旅行查询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297680" y="208483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三路混合检索：向量+全文+图谱 → RRF 融合排序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297680" y="228600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L0/L1/L2 渐进式返回，按需下钻减少 83% Token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297680" y="248716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Serverless 弹性：空闲挂起，仅存储成本 ~0.1元/月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297680" y="268833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Copy-on-Write 分支：Agent 试错零成本快照和回滚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160520" y="3063240"/>
            <a:ext cx="3840480" cy="1325880"/>
          </a:xfrm>
          <a:prstGeom prst="roundRect">
            <a:avLst>
              <a:gd name="adj" fmla="val 4138"/>
            </a:avLst>
          </a:prstGeom>
          <a:solidFill>
            <a:srgbClr val="FAFBFD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297680" y="3099816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关键量化指标</a:t>
            </a:r>
            <a:endParaRPr lang="en-US" sz="12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97680" y="3337560"/>
          <a:ext cx="35661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05840"/>
                <a:gridCol w="1463040"/>
              </a:tblGrid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指标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数值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对比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Token 节省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7A40"/>
                          </a:solidFill>
                        </a:rPr>
                        <a:t>72-83%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D6D7E"/>
                          </a:solidFill>
                        </a:rPr>
                        <a:t>vs 全量注入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MemRL 提升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D4740E"/>
                          </a:solidFill>
                        </a:rPr>
                        <a:t>+56%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D6D7E"/>
                          </a:solidFill>
                        </a:rPr>
                        <a:t>复杂多步任务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专用模型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6B3FA0"/>
                          </a:solidFill>
                        </a:rPr>
                        <a:t>4B &gt; 70B+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D6D7E"/>
                          </a:solidFill>
                        </a:rPr>
                        <a:t>Dria mem-agent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冷启动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70C0"/>
                          </a:solidFill>
                        </a:rPr>
                        <a:t>&lt;1s 创建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D6D7E"/>
                          </a:solidFill>
                        </a:rPr>
                        <a:t>vs RDS 5-10min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6" name="Shape 43"/>
          <p:cNvSpPr/>
          <p:nvPr/>
        </p:nvSpPr>
        <p:spPr>
          <a:xfrm>
            <a:off x="4160520" y="4480560"/>
            <a:ext cx="3840480" cy="658368"/>
          </a:xfrm>
          <a:prstGeom prst="roundRect">
            <a:avLst>
              <a:gd name="adj" fmla="val 8333"/>
            </a:avLst>
          </a:prstGeom>
          <a:solidFill>
            <a:srgbClr val="FFFDE7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4160520" y="4480560"/>
            <a:ext cx="45720" cy="658368"/>
          </a:xfrm>
          <a:prstGeom prst="rect">
            <a:avLst/>
          </a:prstGeom>
          <a:solidFill>
            <a:srgbClr val="B886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4297680" y="449884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开发者记忆（首选切入场景）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4297680" y="4700016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 开发者报告上下文丢失痛点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4297680" y="4864608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自动学习：技术偏好 / 架构模式 / 测试习惯 / 决策风格</a:t>
            </a:r>
            <a:endParaRPr lang="en-US" sz="850" dirty="0"/>
          </a:p>
        </p:txBody>
      </p:sp>
      <p:sp>
        <p:nvSpPr>
          <p:cNvPr id="51" name="Text 48"/>
          <p:cNvSpPr/>
          <p:nvPr/>
        </p:nvSpPr>
        <p:spPr>
          <a:xfrm>
            <a:off x="8229600" y="685800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竞品差距分析</a:t>
            </a:r>
            <a:endParaRPr lang="en-US" sz="1400" dirty="0"/>
          </a:p>
        </p:txBody>
      </p:sp>
      <p:sp>
        <p:nvSpPr>
          <p:cNvPr id="52" name="Shape 49"/>
          <p:cNvSpPr/>
          <p:nvPr/>
        </p:nvSpPr>
        <p:spPr>
          <a:xfrm>
            <a:off x="8229600" y="987552"/>
            <a:ext cx="3703320" cy="749808"/>
          </a:xfrm>
          <a:prstGeom prst="roundRect">
            <a:avLst>
              <a:gd name="adj" fmla="val 7317"/>
            </a:avLst>
          </a:prstGeom>
          <a:solidFill>
            <a:srgbClr val="FAFBFD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8321040" y="101498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Mem0</a:t>
            </a:r>
            <a:endParaRPr lang="en-US" sz="1050" dirty="0"/>
          </a:p>
        </p:txBody>
      </p:sp>
      <p:sp>
        <p:nvSpPr>
          <p:cNvPr id="54" name="Text 51"/>
          <p:cNvSpPr/>
          <p:nvPr/>
        </p:nvSpPr>
        <p:spPr>
          <a:xfrm>
            <a:off x="8321040" y="1207008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B7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基础事实提取</a:t>
            </a:r>
            <a:endParaRPr lang="en-US" sz="850" dirty="0"/>
          </a:p>
        </p:txBody>
      </p:sp>
      <p:sp>
        <p:nvSpPr>
          <p:cNvPr id="55" name="Text 52"/>
          <p:cNvSpPr/>
          <p:nvPr/>
        </p:nvSpPr>
        <p:spPr>
          <a:xfrm>
            <a:off x="8321040" y="140817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缺 </a:t>
            </a:r>
            <a:pPr algn="l" indent="0" marL="0">
              <a:buNone/>
            </a:pPr>
            <a:r>
              <a:rPr lang="en-US" sz="85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Trait 反思 / Q-value / Graph / 层级返回</a:t>
            </a:r>
            <a:endParaRPr lang="en-US" sz="850" dirty="0"/>
          </a:p>
        </p:txBody>
      </p:sp>
      <p:sp>
        <p:nvSpPr>
          <p:cNvPr id="56" name="Shape 53"/>
          <p:cNvSpPr/>
          <p:nvPr/>
        </p:nvSpPr>
        <p:spPr>
          <a:xfrm>
            <a:off x="8229600" y="1810512"/>
            <a:ext cx="3703320" cy="749808"/>
          </a:xfrm>
          <a:prstGeom prst="roundRect">
            <a:avLst>
              <a:gd name="adj" fmla="val 7317"/>
            </a:avLst>
          </a:prstGeom>
          <a:solidFill>
            <a:srgbClr val="FAFBFD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8321040" y="183794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MemOS</a:t>
            </a:r>
            <a:endParaRPr lang="en-US" sz="1050" dirty="0"/>
          </a:p>
        </p:txBody>
      </p:sp>
      <p:sp>
        <p:nvSpPr>
          <p:cNvPr id="58" name="Text 55"/>
          <p:cNvSpPr/>
          <p:nvPr/>
        </p:nvSpPr>
        <p:spPr>
          <a:xfrm>
            <a:off x="8321040" y="2029968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B7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精准召回，Token 节省 72%</a:t>
            </a:r>
            <a:endParaRPr lang="en-US" sz="850" dirty="0"/>
          </a:p>
        </p:txBody>
      </p:sp>
      <p:sp>
        <p:nvSpPr>
          <p:cNvPr id="59" name="Text 56"/>
          <p:cNvSpPr/>
          <p:nvPr/>
        </p:nvSpPr>
        <p:spPr>
          <a:xfrm>
            <a:off x="8321040" y="223113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缺 </a:t>
            </a:r>
            <a:pPr algn="l" indent="0" marL="0">
              <a:buNone/>
            </a:pPr>
            <a:r>
              <a:rPr lang="en-US" sz="85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Trait 反思 / Graph / 跨项目画像</a:t>
            </a:r>
            <a:endParaRPr lang="en-US" sz="850" dirty="0"/>
          </a:p>
        </p:txBody>
      </p:sp>
      <p:sp>
        <p:nvSpPr>
          <p:cNvPr id="60" name="Shape 57"/>
          <p:cNvSpPr/>
          <p:nvPr/>
        </p:nvSpPr>
        <p:spPr>
          <a:xfrm>
            <a:off x="8229600" y="2633472"/>
            <a:ext cx="3703320" cy="749808"/>
          </a:xfrm>
          <a:prstGeom prst="roundRect">
            <a:avLst>
              <a:gd name="adj" fmla="val 7317"/>
            </a:avLst>
          </a:prstGeom>
          <a:solidFill>
            <a:srgbClr val="FAFBFD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8321040" y="266090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Supermemory</a:t>
            </a:r>
            <a:endParaRPr lang="en-US" sz="1050" dirty="0"/>
          </a:p>
        </p:txBody>
      </p:sp>
      <p:sp>
        <p:nvSpPr>
          <p:cNvPr id="62" name="Text 59"/>
          <p:cNvSpPr/>
          <p:nvPr/>
        </p:nvSpPr>
        <p:spPr>
          <a:xfrm>
            <a:off x="8321040" y="2852928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B7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知识图谱 / 6 数据源连接器</a:t>
            </a:r>
            <a:endParaRPr lang="en-US" sz="850" dirty="0"/>
          </a:p>
        </p:txBody>
      </p:sp>
      <p:sp>
        <p:nvSpPr>
          <p:cNvPr id="63" name="Text 60"/>
          <p:cNvSpPr/>
          <p:nvPr/>
        </p:nvSpPr>
        <p:spPr>
          <a:xfrm>
            <a:off x="8321040" y="305409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缺 </a:t>
            </a:r>
            <a:pPr algn="l" indent="0" marL="0">
              <a:buNone/>
            </a:pPr>
            <a:r>
              <a:rPr lang="en-US" sz="85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Trait 反思 / Q-value / 开发者场景</a:t>
            </a:r>
            <a:endParaRPr lang="en-US" sz="850" dirty="0"/>
          </a:p>
        </p:txBody>
      </p:sp>
      <p:sp>
        <p:nvSpPr>
          <p:cNvPr id="64" name="Shape 61"/>
          <p:cNvSpPr/>
          <p:nvPr/>
        </p:nvSpPr>
        <p:spPr>
          <a:xfrm>
            <a:off x="8229600" y="3456432"/>
            <a:ext cx="3703320" cy="749808"/>
          </a:xfrm>
          <a:prstGeom prst="roundRect">
            <a:avLst>
              <a:gd name="adj" fmla="val 7317"/>
            </a:avLst>
          </a:prstGeom>
          <a:solidFill>
            <a:srgbClr val="FAFBFD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8321040" y="348386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HydraDB</a:t>
            </a:r>
            <a:endParaRPr lang="en-US" sz="1050" dirty="0"/>
          </a:p>
        </p:txBody>
      </p:sp>
      <p:sp>
        <p:nvSpPr>
          <p:cNvPr id="66" name="Text 63"/>
          <p:cNvSpPr/>
          <p:nvPr/>
        </p:nvSpPr>
        <p:spPr>
          <a:xfrm>
            <a:off x="8321040" y="3675888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B7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LoCoMo 90.79% / 时序图</a:t>
            </a:r>
            <a:endParaRPr lang="en-US" sz="850" dirty="0"/>
          </a:p>
        </p:txBody>
      </p:sp>
      <p:sp>
        <p:nvSpPr>
          <p:cNvPr id="67" name="Text 64"/>
          <p:cNvSpPr/>
          <p:nvPr/>
        </p:nvSpPr>
        <p:spPr>
          <a:xfrm>
            <a:off x="8321040" y="387705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缺 </a:t>
            </a:r>
            <a:pPr algn="l" indent="0" marL="0">
              <a:buNone/>
            </a:pPr>
            <a:r>
              <a:rPr lang="en-US" sz="85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Q-value / 学习信号 / 闭源锁定</a:t>
            </a:r>
            <a:endParaRPr lang="en-US" sz="850" dirty="0"/>
          </a:p>
        </p:txBody>
      </p:sp>
      <p:sp>
        <p:nvSpPr>
          <p:cNvPr id="68" name="Shape 65"/>
          <p:cNvSpPr/>
          <p:nvPr/>
        </p:nvSpPr>
        <p:spPr>
          <a:xfrm>
            <a:off x="8229600" y="4279392"/>
            <a:ext cx="3703320" cy="749808"/>
          </a:xfrm>
          <a:prstGeom prst="roundRect">
            <a:avLst>
              <a:gd name="adj" fmla="val 7317"/>
            </a:avLst>
          </a:prstGeom>
          <a:solidFill>
            <a:srgbClr val="FAFBFD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8321040" y="430682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OpenViking</a:t>
            </a:r>
            <a:endParaRPr lang="en-US" sz="1050" dirty="0"/>
          </a:p>
        </p:txBody>
      </p:sp>
      <p:sp>
        <p:nvSpPr>
          <p:cNvPr id="70" name="Text 67"/>
          <p:cNvSpPr/>
          <p:nvPr/>
        </p:nvSpPr>
        <p:spPr>
          <a:xfrm>
            <a:off x="8321040" y="4498848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B7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L0/L1/L2 层级 / 15k stars</a:t>
            </a:r>
            <a:endParaRPr lang="en-US" sz="850" dirty="0"/>
          </a:p>
        </p:txBody>
      </p:sp>
      <p:sp>
        <p:nvSpPr>
          <p:cNvPr id="71" name="Text 68"/>
          <p:cNvSpPr/>
          <p:nvPr/>
        </p:nvSpPr>
        <p:spPr>
          <a:xfrm>
            <a:off x="8321040" y="470001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缺 </a:t>
            </a:r>
            <a:pPr algn="l" indent="0" marL="0">
              <a:buNone/>
            </a:pPr>
            <a:r>
              <a:rPr lang="en-US" sz="85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Trait 反思 / per-Agent 隔离</a:t>
            </a:r>
            <a:endParaRPr lang="en-US" sz="850" dirty="0"/>
          </a:p>
        </p:txBody>
      </p:sp>
      <p:sp>
        <p:nvSpPr>
          <p:cNvPr id="72" name="Shape 69"/>
          <p:cNvSpPr/>
          <p:nvPr/>
        </p:nvSpPr>
        <p:spPr>
          <a:xfrm>
            <a:off x="274320" y="5321808"/>
            <a:ext cx="11640312" cy="502920"/>
          </a:xfrm>
          <a:prstGeom prst="roundRect">
            <a:avLst>
              <a:gd name="adj" fmla="val 10909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457200" y="5340096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竞争力公式：Trait 反思（发现用户模式）+ Q-value（检索即个性化）+ 数据飞轮（越用越聪明）+ 单库融合（架构简洁）</a:t>
            </a:r>
            <a:endParaRPr lang="en-US" sz="1200" dirty="0"/>
          </a:p>
        </p:txBody>
      </p:sp>
      <p:sp>
        <p:nvSpPr>
          <p:cNvPr id="74" name="Text 71"/>
          <p:cNvSpPr/>
          <p:nvPr/>
        </p:nvSpPr>
        <p:spPr>
          <a:xfrm>
            <a:off x="457200" y="5577840"/>
            <a:ext cx="112745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竞品可以复制单个能力，但同时复制 Trait + Q-value + 飞轮训练数据 的组合壁垒需要 2-3 年</a:t>
            </a:r>
            <a:endParaRPr lang="en-US" sz="1000" dirty="0"/>
          </a:p>
        </p:txBody>
      </p:sp>
      <p:sp>
        <p:nvSpPr>
          <p:cNvPr id="75" name="Text 72"/>
          <p:cNvSpPr/>
          <p:nvPr/>
        </p:nvSpPr>
        <p:spPr>
          <a:xfrm>
            <a:off x="274320" y="5943600"/>
            <a:ext cx="116403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 MemRL (NeurIPS 2024) / Supermemory (Jeff Dean) / MemOS / HydraDB / OpenViking / Dria mem-agent 研究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记忆库竞争力分析</dc:title>
  <dc:subject>PptxGenJS Presentation</dc:subject>
  <dc:creator>DBay Team</dc:creator>
  <cp:lastModifiedBy>DBay Team</cp:lastModifiedBy>
  <cp:revision>1</cp:revision>
  <dcterms:created xsi:type="dcterms:W3CDTF">2026-03-29T13:59:51Z</dcterms:created>
  <dcterms:modified xsi:type="dcterms:W3CDTF">2026-03-29T13:59:51Z</dcterms:modified>
</cp:coreProperties>
</file>