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本地记忆方案对比：CC vs OpenClaw vs 云记忆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从纯文本到语义检索，再到云端服务 — 三个演进阶段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31677"/>
            <a:ext cx="2641550" cy="3680222"/>
          </a:xfrm>
          <a:prstGeom prst="roundRect">
            <a:avLst>
              <a:gd name="adj" fmla="val 288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50727"/>
            <a:ext cx="2641550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22217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447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Markdown 文件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1701403"/>
            <a:ext cx="2286149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+ 独立记忆文件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检索：grep / 文件名匹配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200行截断，需人工修剪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 git 同步，但无语义理解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单人单项目，跨项目靠手动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4901" y="4361111"/>
            <a:ext cx="2286149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4416623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类比：记事本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51150" y="1031677"/>
            <a:ext cx="2641699" cy="3680222"/>
          </a:xfrm>
          <a:prstGeom prst="roundRect">
            <a:avLst>
              <a:gd name="adj" fmla="val 2885"/>
            </a:avLst>
          </a:prstGeom>
          <a:solidFill>
            <a:srgbClr val="FE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51150" y="1050727"/>
            <a:ext cx="2641699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8851" y="1222177"/>
            <a:ext cx="2332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8851" y="1447502"/>
            <a:ext cx="2332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SQLite 向量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28851" y="1701403"/>
            <a:ext cx="2286298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存储 + sqlite-vec 向量索引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混合检索：70%语义 + 30%BM25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.sqlite 文件，不可网络共享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单进程，无并发写入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索引是二进制，无法 git 同步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8851" y="4361111"/>
            <a:ext cx="2286298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8851" y="4416623"/>
            <a:ext cx="23320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类比：个人笔记软件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50" y="1031677"/>
            <a:ext cx="2641550" cy="3680222"/>
          </a:xfrm>
          <a:prstGeom prst="roundRect">
            <a:avLst>
              <a:gd name="adj" fmla="val 2885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45250" y="1050727"/>
            <a:ext cx="2641550" cy="0"/>
          </a:xfrm>
          <a:prstGeom prst="line">
            <a:avLst/>
          </a:prstGeom>
          <a:noFill/>
          <a:ln w="38100">
            <a:solidFill>
              <a:srgbClr val="0D7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950" y="122217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22950" y="1447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云端记忆服务 (DBay)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22950" y="1701403"/>
            <a:ext cx="2286149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云端向量 + 全文 + 结构化检索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接入，任何 Agent 可调用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多用户、多项目、多Agent共享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+ 权限控制 + 审计日志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记忆属于用户，不属于 Agent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22950" y="4361111"/>
            <a:ext cx="2286149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2950" y="4416623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类比：企业知识平台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4904" y="4813399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的 Markdown 能 git 同步但无语义 · OpenClaw 有语义但 SQLite 锁死单机 · 两者都困在本地范式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痛点："养 Agent" — 每个 Agent 的记忆从零开始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需要 1-2 周才真正好用 · 多 Agent 记忆完全割裂 · 用户反复付出训练成本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6376"/>
            <a:ext cx="4428530" cy="1243459"/>
          </a:xfrm>
          <a:prstGeom prst="roundRect">
            <a:avLst>
              <a:gd name="adj" fmla="val 612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133326"/>
            <a:ext cx="4154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"养"一个 Agent 的时间线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409551"/>
            <a:ext cx="4073128" cy="524173"/>
          </a:xfrm>
          <a:prstGeom prst="roundRect">
            <a:avLst>
              <a:gd name="adj" fmla="val 14537"/>
            </a:avLst>
          </a:prstGeom>
          <a:solidFill>
            <a:srgbClr val="FAFBFD"/>
          </a:solidFill>
          <a:ln w="9525">
            <a:solidFill>
              <a:srgbClr val="DEE5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350" y="1520577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2350" y="1671638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不了解用户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74019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28094" y="1520577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28094" y="1671638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记住偏好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39913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93990" y="1520577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3990" y="1671638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理解模式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05659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9734" y="1520577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9734" y="1671638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终于好用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4901" y="1933724"/>
            <a:ext cx="415459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每次纠正 = 用户在付出训练成本，而这些经验无法迁移到其他 Agent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351336"/>
            <a:ext cx="4428530" cy="1116657"/>
          </a:xfrm>
          <a:prstGeom prst="roundRect">
            <a:avLst>
              <a:gd name="adj" fmla="val 6824"/>
            </a:avLst>
          </a:prstGeom>
          <a:solidFill>
            <a:srgbClr val="FDEDEC"/>
          </a:solidFill>
          <a:ln w="9525">
            <a:solidFill>
              <a:srgbClr val="E8AA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4426" y="2487811"/>
            <a:ext cx="413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记忆完全割裂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426" y="2764036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里说 "不要 mock 数据库" — OpenClaw 不知道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426" y="2953196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里纠正代码风格 — CC 不知道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426" y="3142357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两个都要养 = 双倍训练成本，零倍协同收益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63430" y="1006376"/>
            <a:ext cx="3623370" cy="2705100"/>
          </a:xfrm>
          <a:prstGeom prst="roundRect">
            <a:avLst>
              <a:gd name="adj" fmla="val 28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41131" y="1133326"/>
            <a:ext cx="3333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一个开发者的 Agent 记忆孤岛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41131" y="1409551"/>
            <a:ext cx="784027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42632" y="1447651"/>
            <a:ext cx="5926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终端编程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1358" y="1409551"/>
            <a:ext cx="908447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02859" y="1447651"/>
            <a:ext cx="719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桌面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41131" y="1692027"/>
            <a:ext cx="705148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42632" y="1730127"/>
            <a:ext cx="512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22479" y="1692027"/>
            <a:ext cx="874514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23980" y="1730127"/>
            <a:ext cx="684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企业内部Agent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1131" y="1974503"/>
            <a:ext cx="333332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独立记忆池</a:t>
            </a:r>
            <a:endParaRPr lang="en-US" sz="850" dirty="0"/>
          </a:p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换一个 Agent = 记忆清零</a:t>
            </a:r>
            <a:endParaRPr lang="en-US" sz="850" dirty="0"/>
          </a:p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个 Agent = N 倍养育成本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63430" y="3812977"/>
            <a:ext cx="3623370" cy="895648"/>
          </a:xfrm>
          <a:prstGeom prst="roundRect">
            <a:avLst>
              <a:gd name="adj" fmla="val 850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41131" y="3939927"/>
            <a:ext cx="3333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根本原因：记忆被锁在 Agent 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41131" y="4203353"/>
            <a:ext cx="333332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记忆绑定在 Agent 内部，而不是属于用户本人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41131" y="4392513"/>
            <a:ext cx="333332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就像通讯录锁在微信里 — 换个聊天软件就丢了所有联系人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4904" y="4784824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记忆不应该属于 Agent，记忆应该属于用户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企业场景的致命缺陷：团队协作、安全合规、非编程Agent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的本地记忆方案在企业环境下全面失效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80926"/>
            <a:ext cx="4025950" cy="747117"/>
          </a:xfrm>
          <a:prstGeom prst="roundRect">
            <a:avLst>
              <a:gd name="adj" fmla="val 1019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980926"/>
            <a:ext cx="0" cy="74711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108242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知识无法共享与传承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7700" y="1301502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团队成员间无法共享记忆，重复踩坑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7700" y="1464022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 = 记忆随笔记本消失，经验归零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816894"/>
            <a:ext cx="4025950" cy="909638"/>
          </a:xfrm>
          <a:prstGeom prst="roundRect">
            <a:avLst>
              <a:gd name="adj" fmla="val 8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1816894"/>
            <a:ext cx="0" cy="909638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1918395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安全审计不可能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700" y="213747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无法知道 Agent 记住了哪些敏感信息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7700" y="229999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无法统一擦除（离职 / 合规要求时）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7700" y="246251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敏感数据散落 N 台开发机，安全部门噩梦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815382"/>
            <a:ext cx="4025950" cy="909638"/>
          </a:xfrm>
          <a:prstGeom prst="roundRect">
            <a:avLst>
              <a:gd name="adj" fmla="val 8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2815382"/>
            <a:ext cx="0" cy="90963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" y="2916882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架构天花板 (OpenClaw)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700" y="3135957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单进程数据库，10人团队无法共享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7700" y="3298478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二进制索引无法 git 同步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7700" y="3460998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不同机器的 embedding 向量不兼容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0850" y="980926"/>
            <a:ext cx="4025950" cy="1420416"/>
          </a:xfrm>
          <a:prstGeom prst="roundRect">
            <a:avLst>
              <a:gd name="adj" fmla="val 5365"/>
            </a:avLst>
          </a:prstGeom>
          <a:solidFill>
            <a:srgbClr val="E3F0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2775" y="1117402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— 更大的市场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2775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3801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Agent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74209" y="1393627"/>
            <a:ext cx="629841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85234" y="1441252"/>
            <a:ext cx="4159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Agent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7450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78476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 Agent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18883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29909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 Agent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0316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81342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Agent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22775" y="1685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33801" y="1733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 Agent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2775" y="1990427"/>
            <a:ext cx="3776142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 Agent 是云原生 SaaS 服务，根本没有本地文件系统</a:t>
            </a:r>
            <a:endParaRPr lang="en-US" sz="800" dirty="0"/>
          </a:p>
          <a:p>
            <a:pPr algn="l" indent="0" marL="0">
              <a:lnSpc>
                <a:spcPts val="108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/ SQLite 方案完全不适用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0850" y="2490192"/>
            <a:ext cx="4025950" cy="1565077"/>
          </a:xfrm>
          <a:prstGeom prst="roundRect">
            <a:avLst>
              <a:gd name="adj" fmla="val 4869"/>
            </a:avLst>
          </a:prstGeom>
          <a:solidFill>
            <a:srgbClr val="FAFBFD"/>
          </a:solidFill>
          <a:ln w="9525">
            <a:solidFill>
              <a:srgbClr val="DEE5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22775" y="2601218"/>
            <a:ext cx="3776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企业需求 vs 本地记忆能力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2775" y="285839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10076" y="285839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本地方案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5501" y="285839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云端方案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2775" y="303936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10076" y="303936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05501" y="303936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原生支持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2775" y="322034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10076" y="322034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5501" y="322034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租户+角色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2775" y="340131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10076" y="340131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05501" y="340131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全链路追踪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2775" y="358229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数据擦除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10076" y="358229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逐机清理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05501" y="358229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一键删除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22775" y="376326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备份恢复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10076" y="376326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靠个人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105501" y="376326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自动备份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4904" y="4813399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 Agent 只是冰山一角 · 企业中更多 Agent 运行在云端，没有本地磁盘可用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解法：云端记忆层 — 记忆属于用户，不属于 Agent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一次养育所有 Agent 共享 · 团队知识资产化 · 跨设备跨平台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80926"/>
            <a:ext cx="4831110" cy="840135"/>
          </a:xfrm>
          <a:prstGeom prst="roundRect">
            <a:avLst>
              <a:gd name="adj" fmla="val 9070"/>
            </a:avLst>
          </a:prstGeom>
          <a:solidFill>
            <a:srgbClr val="E8F6F3"/>
          </a:solidFill>
          <a:ln w="9525">
            <a:solidFill>
              <a:srgbClr val="A3D9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091952"/>
            <a:ext cx="45974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核心范式转换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9125" y="1342727"/>
            <a:ext cx="459740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本地范式：记忆 = Agent 的私有状态（换 Agent 就丢失）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9125" y="1526381"/>
            <a:ext cx="459740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云端范式：记忆 = 用户的数字资产（跨 Agent、跨设备、可传承）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909911"/>
            <a:ext cx="4831110" cy="2817763"/>
          </a:xfrm>
          <a:prstGeom prst="roundRect">
            <a:avLst>
              <a:gd name="adj" fmla="val 270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036862"/>
            <a:ext cx="4616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架构：Agent-agnostic Memory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313087"/>
            <a:ext cx="812750" cy="374452"/>
          </a:xfrm>
          <a:prstGeom prst="roundRect">
            <a:avLst>
              <a:gd name="adj" fmla="val 1017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9196" y="2433638"/>
            <a:ext cx="673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层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23851" y="2428875"/>
            <a:ext cx="2244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/ Cursor / 企业Agent / 自研Agent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3501" y="2725638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9600" y="2827288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9196" y="2947839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API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23851" y="2928789"/>
            <a:ext cx="1893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/ recall / search — 标准化记忆接口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3501" y="3211264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600" y="3312914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196" y="3433465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23851" y="3414415"/>
            <a:ext cx="1611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 + 全文 + 结构化 + 权限 + 审计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3501" y="3696891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9600" y="3798540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9196" y="3919091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23851" y="3900041"/>
            <a:ext cx="1737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· 加密存储 · 合规擦除 · SSO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6011" y="980926"/>
            <a:ext cx="3220789" cy="894011"/>
          </a:xfrm>
          <a:prstGeom prst="roundRect">
            <a:avLst>
              <a:gd name="adj" fmla="val 85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92961" y="1082427"/>
            <a:ext cx="30262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对个人开发者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92961" y="1301502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里的纠正，OpenClaw 自动知道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92961" y="1458813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新项目即刻继承所有历史偏好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92961" y="1616125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不用再"养"任何 Agent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6011" y="1963787"/>
            <a:ext cx="3220789" cy="894011"/>
          </a:xfrm>
          <a:prstGeom prst="roundRect">
            <a:avLst>
              <a:gd name="adj" fmla="val 85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92961" y="2065288"/>
            <a:ext cx="30262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对企业团队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92961" y="2284363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新员工继承团队知识，Day 1 即战力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2961" y="2441674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安全部门可审计、可擦除、可管控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2961" y="2598986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通过 API 接入同一记忆池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6011" y="2946648"/>
            <a:ext cx="3220789" cy="1781026"/>
          </a:xfrm>
          <a:prstGeom prst="roundRect">
            <a:avLst>
              <a:gd name="adj" fmla="val 4278"/>
            </a:avLst>
          </a:prstGeom>
          <a:solidFill>
            <a:srgbClr val="E8F6F3"/>
          </a:solidFill>
          <a:ln w="9525">
            <a:solidFill>
              <a:srgbClr val="0D7C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02486" y="3057674"/>
            <a:ext cx="3006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效果对比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02486" y="3289399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每个Agent养2周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01780" y="3289399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养一次，处处可用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02486" y="3457575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记忆随Agent割裂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1780" y="3457575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统一记忆池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02486" y="3625751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员工离职知识丢失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01780" y="3625751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团队知识资产沉淀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02486" y="3793927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安全审计不可控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01780" y="3793927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全链路审计管控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" y="4803874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就像从 SQLite 到云数据库 — Agent 记忆必然从本地文件走向云服务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 Agent 场景需要不同的记忆策略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 × 3 层记忆系统 = 场景化 Preset 配置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类 Agent 场景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" y="896112"/>
            <a:ext cx="21762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 编码助手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/ Cursor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7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7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全量注入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200行上限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Decision / Rejection / Pattern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不衰减（决策长期有效）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无语义检索，全量加载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7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9204" y="2968752"/>
            <a:ext cx="2066544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人工可编辑 · Git 可追踪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20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20340" y="896112"/>
            <a:ext cx="2176272" cy="347472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6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 个人助理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66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OpenClaw / ChatGPT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93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93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Markdown + SQLite 混合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93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核心文件全注入 + 历史搜索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93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93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Trait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93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93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指数衰减 λ=0.95/周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93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Vector+BM25+RRF+MMR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93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预算：&lt;800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75204" y="2968752"/>
            <a:ext cx="2066544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3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精准召回 · 节省 72% Token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06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06340" y="896112"/>
            <a:ext cx="217627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2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 业务垂直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52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客服 / 销售 / 法律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79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79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 DB 按需加载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79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客户ID精确 + 语义补充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79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79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Fact / Decision / Episode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79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079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不衰减（审计合规）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79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ID精确 + 语义 + RBAC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079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预算：按需完整加载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61204" y="2968752"/>
            <a:ext cx="2066544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审计轨迹 · Append-only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292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92340" y="896112"/>
            <a:ext cx="2176272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8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 多Agent协作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338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CrewAI / AutoGen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65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365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共享状态实时读取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65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65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65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 / Result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365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6B3FA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65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任务结束整体清除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365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任务ID精确查询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365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预算：&lt;200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347204" y="2968752"/>
            <a:ext cx="2066544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65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跨Agent状态共享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578340" y="896112"/>
            <a:ext cx="2176272" cy="2514600"/>
          </a:xfrm>
          <a:prstGeom prst="roundRect">
            <a:avLst>
              <a:gd name="adj" fmla="val 2521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78340" y="896112"/>
            <a:ext cx="21762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24060" y="896112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 长期陪伴</a:t>
            </a:r>
            <a:endParaRPr lang="en-US" sz="16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9624060" y="1078992"/>
            <a:ext cx="208483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Character.AI</a:t>
            </a:r>
            <a:endParaRPr lang="en-US" sz="90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651492" y="1298448"/>
            <a:ext cx="109728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加载策略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651492" y="144475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人格 + 情感 + 关系图谱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651492" y="1572768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情感权重优先</a:t>
            </a:r>
            <a:endParaRPr lang="en-US" sz="9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651492" y="1773936"/>
            <a:ext cx="9144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记忆类型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651492" y="1920240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/ Episode + 情感标注</a:t>
            </a:r>
            <a:endParaRPr lang="en-US" sz="10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651492" y="2121408"/>
            <a:ext cx="13716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衰减 / 检索</a:t>
            </a:r>
            <a:endParaRPr lang="en-US" sz="1000" b="1" dirty="0">
              <a:solidFill>
                <a:srgbClr val="C0392B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651492" y="2267712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强衰减 λ=0.92/天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651492" y="2414016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语义+情感+关系图谱</a:t>
            </a:r>
            <a:endParaRPr lang="en-US" sz="95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651492" y="2615184"/>
            <a:ext cx="2029968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Token 预算：&lt;1500 tokens</a:t>
            </a:r>
            <a:endParaRPr lang="en-US" sz="95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9633204" y="2968752"/>
            <a:ext cx="20665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51492" y="2968752"/>
            <a:ext cx="202996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人格一致 · 情感记忆弧</a:t>
            </a:r>
            <a:endParaRPr lang="en-US" sz="10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82880" y="3493008"/>
            <a:ext cx="11823192" cy="2834640"/>
          </a:xfrm>
          <a:prstGeom prst="roundRect">
            <a:avLst>
              <a:gd name="adj" fmla="val 3226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529584"/>
            <a:ext cx="5486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统一三层记忆系统 — 同一引擎，场景化配置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11096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💻 编码助手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6317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个人助理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0153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🏢 业务垂直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96758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多Agent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91979" y="3822192"/>
            <a:ext cx="1958645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💬 长期陪伴</a:t>
            </a:r>
            <a:endParaRPr lang="en-US" sz="12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20040" y="409651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" y="4096512"/>
            <a:ext cx="45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1480" y="413308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策略层</a:t>
            </a:r>
            <a:endParaRPr lang="en-US" sz="1200" b="1" dirty="0">
              <a:solidFill>
                <a:srgbClr val="1565C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411480" y="437083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 / 衰减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合并</a:t>
            </a:r>
            <a:r>
              <a:rPr lang="en-US" altLang="zh-CN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/  </a:t>
            </a: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排序 / </a:t>
            </a:r>
            <a:r>
              <a:rPr lang="zh-CN" alt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反思</a:t>
            </a:r>
            <a:endParaRPr lang="zh-CN" alt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911096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47672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Markdown 全量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947672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947672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全文匹配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906317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42893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3942893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指数衰减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942893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Q-value 加权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90153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3811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规则提取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593811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不衰减(合规)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593811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ID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896758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33334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任务结束提取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7933334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整体清除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7933334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任务ID精确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9891979" y="409651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928555" y="413308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异步提取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9928555" y="433425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情感权重衰减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9928555" y="453542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 + 语义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1051560" y="476402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320040" y="482803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20040" y="4828032"/>
            <a:ext cx="45720" cy="65836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" y="486460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组织层</a:t>
            </a:r>
            <a:endParaRPr lang="en-US" sz="1200" b="1" dirty="0">
              <a:solidFill>
                <a:srgbClr val="0D7C6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411480" y="510235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类型 / 元数据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911096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947672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Decision/Pattern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1947672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YAML 前缀元数据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1947672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Git 版本追踪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3906317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942893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3942893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置信度+时间戳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3942893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人物关系图谱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590153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93811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Fact/Decision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593811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审计日志+RBAC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3811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客户关系图谱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7896758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933334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Context/Result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7933334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任务依赖标注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7933334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工作流 DAG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9891979" y="482803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928555" y="486460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Trait/Episode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9928555" y="506577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情感+人格标注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9928555" y="526694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情感关系图谱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1051560" y="5495544"/>
            <a:ext cx="914" cy="54864"/>
          </a:xfrm>
          <a:prstGeom prst="line">
            <a:avLst/>
          </a:prstGeom>
          <a:noFill/>
          <a:ln w="1270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320040" y="5559552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0040" y="5559552"/>
            <a:ext cx="45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11480" y="5596128"/>
            <a:ext cx="12801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存储层</a:t>
            </a:r>
            <a:endParaRPr lang="en-US" sz="1200" b="1" dirty="0">
              <a:solidFill>
                <a:srgbClr val="B4530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411480" y="5833872"/>
            <a:ext cx="1280160" cy="3291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 / 全文 / 图谱</a:t>
            </a:r>
            <a:endParaRPr lang="en-US" sz="900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1911096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947672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本地 Markdown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1947672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远程 pgvector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947672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人工可编辑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3906317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942893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BM25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3942893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sqlite-vec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3942893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RRF+MMR 融合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590153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3811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PostgreSQL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593811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Append-only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593811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RBAC 权限隔离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7896758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933334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Redis 共享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7933334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PG 持久化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2" name="Text 160"/>
          <p:cNvSpPr/>
          <p:nvPr/>
        </p:nvSpPr>
        <p:spPr>
          <a:xfrm>
            <a:off x="7933334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亚秒级延迟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9891979" y="5559552"/>
            <a:ext cx="195864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928555" y="5596128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pgvector + 图谱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9928555" y="5797296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+ 时间线分区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9928555" y="5998464"/>
            <a:ext cx="1885493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情感索引</a:t>
            </a:r>
            <a:endParaRPr lang="en-US" sz="1200" dirty="0">
              <a:solidFill>
                <a:srgbClr val="2C3E5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统一引擎 + 场景 Preset：编码助手用 Markdown 全量注入，个人助理用精准召回，业务 Agent 用审计存储 — 一套代码，配置差异化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高价值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垂直场景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举例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：面向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行业 Agent 的记忆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</a:t>
            </a:r>
            <a:endParaRPr lang="zh-CN" altLang="en-US" sz="19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10058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 Agent 场景需要不同的记忆类型、衰减策略、Trait 反思焦点和隐私等级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091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658368"/>
            <a:ext cx="45720" cy="2788920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Q-value 信号清晰：满意度评分直接回传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0644" y="3246120"/>
            <a:ext cx="3429000" cy="164592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预判客户情绪，主动匹配最优解决路径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6567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5676" y="658368"/>
            <a:ext cx="45720" cy="278892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540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最强信号：成交/丢单 直接标定记忆价值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75404" y="3246120"/>
            <a:ext cx="342900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283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记住每个客户的决策链路和沟通风格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60436" y="658368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60436" y="658368"/>
            <a:ext cx="45720" cy="2788920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grpSp>
        <p:nvGrpSpPr>
          <p:cNvPr id="98" name="组合 97"/>
          <p:cNvGrpSpPr/>
          <p:nvPr/>
        </p:nvGrpSpPr>
        <p:grpSpPr>
          <a:xfrm>
            <a:off x="580390" y="695016"/>
            <a:ext cx="11018774" cy="3042594"/>
            <a:chOff x="914" y="1094"/>
            <a:chExt cx="17352" cy="3730"/>
          </a:xfrm>
        </p:grpSpPr>
        <p:sp>
          <p:nvSpPr>
            <p:cNvPr id="7" name="Text 5"/>
            <p:cNvSpPr/>
            <p:nvPr/>
          </p:nvSpPr>
          <p:spPr>
            <a:xfrm>
              <a:off x="914" y="1095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🎧  客服 / 售后 Agent</a:t>
              </a:r>
              <a:endParaRPr lang="en-US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914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14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情绪敏感度（易怒/耐心/焦虑）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914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偏好渠道（电话 vs 文字 vs 视频）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914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问题复发模式（同类问题反复出现）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914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D7C6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14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投诉历史 + 情绪轨迹时序存储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14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解决方案效果 Q-value 追踪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14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满意度趋势 → 自动升级预警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14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快衰减：已解决工单 30 天降权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90" y="1094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💼  销售 / CRM Agent</a:t>
              </a:r>
              <a:endParaRPr lang="en-US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890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890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决策风格（数据驱动/关系驱动/价格敏感）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890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沟通偏好（简洁直接 vs 详细方案）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890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采购周期节奏和关键决策人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890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B45309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890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客户关系阶段 + 互动时序图谱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890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每次接触的成交贡献度评分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890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竞品提及记录 + 异议模式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6890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中衰减：活跃商机不衰减，丢单后缓降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12866" y="1094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📚  教育 / 辅导 Agent</a:t>
              </a:r>
              <a:endParaRPr lang="en-US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866" y="1498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12866" y="175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学习风格（视觉/听觉/实践型）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2866" y="1987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知识薄弱区域和进步曲线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2866" y="2218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注意力持续时长和最佳学习时段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12866" y="2506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B3FA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12866" y="276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知识点掌握度矩阵（已会/模糊/未学）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866" y="2995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不同教学策略效果对比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2866" y="3226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错题模式 + 易混淆概念图谱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2866" y="4594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D6D7E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不衰减：知识掌握状态持久跟踪</a:t>
              </a:r>
              <a:endPara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47" name="Text 45"/>
          <p:cNvSpPr/>
          <p:nvPr/>
        </p:nvSpPr>
        <p:spPr>
          <a:xfrm>
            <a:off x="8170164" y="3063240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测试成绩/答题正确率回传 Q-value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0164" y="3246120"/>
            <a:ext cx="342900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97596" y="3246120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多分支试错：A/B 对比教学策略效果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091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" y="3557016"/>
            <a:ext cx="45720" cy="27889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永不衰减：医疗记录必须完整保留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8064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治疗效果反馈 → 方案推荐排序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80644" y="6144768"/>
            <a:ext cx="342900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Append-only 审计轨迹，满足合规要求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26567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EAF0F5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65676" y="3557016"/>
            <a:ext cx="45720" cy="27889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540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超长保留：法律记忆 5-10 年有效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37540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案件结果（胜/败/和解）标定策略价值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375404" y="6144768"/>
            <a:ext cx="3429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0283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时间旅行查询：还原任意时点的法规状态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8060436" y="3557016"/>
            <a:ext cx="3657600" cy="2788920"/>
          </a:xfrm>
          <a:prstGeom prst="roundRect">
            <a:avLst>
              <a:gd name="adj" fmla="val 1967"/>
            </a:avLst>
          </a:prstGeom>
          <a:solidFill>
            <a:srgbClr val="FDF9E8"/>
          </a:solidFill>
          <a:ln w="19050">
            <a:solidFill>
              <a:srgbClr val="7D660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0436" y="3557016"/>
            <a:ext cx="45720" cy="2788920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grpSp>
        <p:nvGrpSpPr>
          <p:cNvPr id="99" name="组合 98"/>
          <p:cNvGrpSpPr/>
          <p:nvPr/>
        </p:nvGrpSpPr>
        <p:grpSpPr>
          <a:xfrm>
            <a:off x="580390" y="3593465"/>
            <a:ext cx="11018520" cy="1999615"/>
            <a:chOff x="914" y="5659"/>
            <a:chExt cx="17352" cy="2361"/>
          </a:xfrm>
        </p:grpSpPr>
        <p:sp>
          <p:nvSpPr>
            <p:cNvPr id="52" name="Text 50"/>
            <p:cNvSpPr/>
            <p:nvPr/>
          </p:nvSpPr>
          <p:spPr>
            <a:xfrm>
              <a:off x="914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🏥  医疗健康 Agent</a:t>
              </a:r>
              <a:endParaRPr lang="en-US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914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914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症状描述习惯（精确 vs 模糊）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914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治疗依从性模式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914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健康焦虑程度和信息需求层次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914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914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症状时序链 + 用药记录不可变存储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914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体征指标趋势（结构化存储）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914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就诊记录 + 医嘱追踪 + 随访提醒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6890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⚖️  法律 / 合规 Agent</a:t>
              </a:r>
              <a:endParaRPr lang="en-US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>
              <a:off x="6890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6890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风险偏好（保守/激进）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0" name="Text 68"/>
            <p:cNvSpPr/>
            <p:nvPr/>
          </p:nvSpPr>
          <p:spPr>
            <a:xfrm>
              <a:off x="6890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关注的合规领域和法规版本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6890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案件处理模式和论证风格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6890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A5276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1A527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3" name="Text 71"/>
            <p:cNvSpPr/>
            <p:nvPr/>
          </p:nvSpPr>
          <p:spPr>
            <a:xfrm>
              <a:off x="6890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案例先例图谱 + 判例关联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6890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法规变更时间线（版本化追踪）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6890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合同条款模式库 + 风险评估历史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2" name="Text 80"/>
            <p:cNvSpPr/>
            <p:nvPr/>
          </p:nvSpPr>
          <p:spPr>
            <a:xfrm>
              <a:off x="12866" y="5659"/>
              <a:ext cx="5328" cy="3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🔬  研究 / 分析 Agent</a:t>
              </a:r>
              <a:endParaRPr lang="en-US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3" name="Text 81"/>
            <p:cNvSpPr/>
            <p:nvPr/>
          </p:nvSpPr>
          <p:spPr>
            <a:xfrm>
              <a:off x="12866" y="6062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Trait 反思焦点</a:t>
              </a:r>
              <a:endParaRPr lang="en-US" sz="12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12866" y="632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研究方法论偏好（定量 vs 定性）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12866" y="655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信息源可信度评估标准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12866" y="6782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论证推理风格和引用习惯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12866" y="7070"/>
              <a:ext cx="2160" cy="259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D660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记忆策略</a:t>
              </a:r>
              <a:endParaRPr lang="en-US" sz="12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12866" y="733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论点演化链 + 来源溯源图谱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12866" y="756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假设验证轨迹（支持/反驳证据）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  <p:sp>
          <p:nvSpPr>
            <p:cNvPr id="90" name="Text 88"/>
            <p:cNvSpPr/>
            <p:nvPr/>
          </p:nvSpPr>
          <p:spPr>
            <a:xfrm>
              <a:off x="12866" y="7790"/>
              <a:ext cx="5400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2C3E5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• 矛盾检测 + 知识更新时间线</a:t>
              </a:r>
              <a:endParaRPr lang="en-US" sz="10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91" name="Text 89"/>
          <p:cNvSpPr/>
          <p:nvPr/>
        </p:nvSpPr>
        <p:spPr>
          <a:xfrm>
            <a:off x="8170164" y="5815584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慢衰减：研究结论长期有效，数据时效性标注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170164" y="5961888"/>
            <a:ext cx="34290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引用被采纳/驳回 → 来源可信度调整</a:t>
            </a:r>
            <a:endParaRPr lang="en-US" sz="1000" i="1" dirty="0">
              <a:solidFill>
                <a:srgbClr val="5D6D7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170164" y="6144768"/>
            <a:ext cx="3429000" cy="164592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97596" y="6144768"/>
            <a:ext cx="3383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⚡ 知识图谱深度关联，自动发现矛盾和空白</a:t>
            </a:r>
            <a:endParaRPr lang="en-US" sz="10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5760" y="638251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统一平台 · 场景化 Preset：同一套 Trait 反思 + Q-value + 飞轮引擎，通过场景 Preset 配置差异化的记忆类型、衰减策略、隐私等级和 Q-value 信号源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65760" y="6583680"/>
            <a:ext cx="114574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每个垂直场景都是独立的数据飞轮 — 场景越深耕，记忆越精准，竞品越难追赶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</a:t>
            </a:r>
            <a:r>
              <a:rPr lang="en-US" altLang="zh-CN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化、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的记忆组织层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从碎片文本到知识图谱+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向量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融合</a:t>
            </a:r>
            <a:endParaRPr lang="zh-CN" altLang="en-US" sz="190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通过注入时增强 + 定期反思整理，让记忆形成语义网络，支撑 Agent 高质量召回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11823192" cy="2606040"/>
          </a:xfrm>
          <a:prstGeom prst="roundRect">
            <a:avLst>
              <a:gd name="adj" fmla="val 3509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注入时结构化流水线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676656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每条对话进入记忆前，经过 4 步语义增强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24128"/>
            <a:ext cx="256032" cy="25603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10" name="Text 8"/>
          <p:cNvSpPr/>
          <p:nvPr/>
        </p:nvSpPr>
        <p:spPr>
          <a:xfrm>
            <a:off x="438912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滑动窗口 + 代词消解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71600"/>
            <a:ext cx="457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原文：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828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"她讨厌那个框架"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719072"/>
            <a:ext cx="457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增强：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1719072"/>
            <a:ext cx="1828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"Alice 讨厌 React 框架"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上下文窗口回溯 5 轮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消解代词、补全省略实体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注入用户属性（职业等）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</p:spPr>
      </p:sp>
      <p:sp>
        <p:nvSpPr>
          <p:cNvPr id="22" name="Text 20"/>
          <p:cNvSpPr/>
          <p:nvPr/>
        </p:nvSpPr>
        <p:spPr>
          <a:xfrm>
            <a:off x="457200" y="2706624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f_θ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08376" y="1984248"/>
            <a:ext cx="128016" cy="914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72968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24128"/>
            <a:ext cx="256032" cy="256032"/>
          </a:xfrm>
          <a:prstGeom prst="ellipse">
            <a:avLst/>
          </a:prstGeom>
          <a:solidFill>
            <a:srgbClr val="0D7C66"/>
          </a:solidFill>
        </p:spPr>
      </p:sp>
      <p:sp>
        <p:nvSpPr>
          <p:cNvPr id="26" name="Text 24"/>
          <p:cNvSpPr/>
          <p:nvPr/>
        </p:nvSpPr>
        <p:spPr>
          <a:xfrm>
            <a:off x="3246120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57016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实体抽取 + 关系图谱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138988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 ——WORKS_AT——▶ Meta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15727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 ——DISLIKES——▶ React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55848" y="175564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Meta  ——USES———▶ React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64408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自动提取实体和关系三元组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20+ 关系类型分类标注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64408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双向实体查询索引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64408" y="2706624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0D7C66"/>
          </a:solidFill>
        </p:spPr>
      </p:sp>
      <p:sp>
        <p:nvSpPr>
          <p:cNvPr id="36" name="Text 34"/>
          <p:cNvSpPr/>
          <p:nvPr/>
        </p:nvSpPr>
        <p:spPr>
          <a:xfrm>
            <a:off x="3264408" y="2706624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Supermemory Graph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15584" y="1984248"/>
            <a:ext cx="128016" cy="914"/>
          </a:xfrm>
          <a:prstGeom prst="line">
            <a:avLst/>
          </a:prstGeom>
          <a:noFill/>
          <a:ln w="317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980176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53328" y="1024128"/>
            <a:ext cx="256032" cy="256032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40" name="Text 38"/>
          <p:cNvSpPr/>
          <p:nvPr/>
        </p:nvSpPr>
        <p:spPr>
          <a:xfrm>
            <a:off x="6053328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64224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多向量存储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71616" y="137160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v_content  原文向量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71616" y="153619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直接语义匹配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71616" y="173736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v_inferred  增强向量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71616" y="190195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捕获代词消解后的隐含语义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71616" y="210312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v_sparse  BM25 特征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71616" y="2267712"/>
            <a:ext cx="242316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关键词精确匹配（罕见词不丢失）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71616" y="2505456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三路融合：S = α·content + β·inferred + γ·BM25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71616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</p:spPr>
      </p:sp>
      <p:sp>
        <p:nvSpPr>
          <p:cNvPr id="50" name="Text 48"/>
          <p:cNvSpPr/>
          <p:nvPr/>
        </p:nvSpPr>
        <p:spPr>
          <a:xfrm>
            <a:off x="6071616" y="2706624"/>
            <a:ext cx="1463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三路检索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622792" y="1984248"/>
            <a:ext cx="128016" cy="914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787384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0536" y="1024128"/>
            <a:ext cx="256032" cy="256032"/>
          </a:xfrm>
          <a:prstGeom prst="ellipse">
            <a:avLst/>
          </a:prstGeom>
          <a:solidFill>
            <a:srgbClr val="6B3FA0"/>
          </a:solidFill>
        </p:spPr>
      </p:sp>
      <p:sp>
        <p:nvSpPr>
          <p:cNvPr id="54" name="Text 52"/>
          <p:cNvSpPr/>
          <p:nvPr/>
        </p:nvSpPr>
        <p:spPr>
          <a:xfrm>
            <a:off x="8860536" y="10241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71432" y="102412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Append-only 版本化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878824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70264" y="138988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2024.3  LIVES_IN: NYC (startup)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70264" y="157276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2024.9  LIVES_IN: London (Meta)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970264" y="1755648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2025.1  PREFERS: Vue → React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878824" y="210312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不覆盖旧值，只追加新版本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878824" y="228600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每条变更附 C_meta 变更原因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878824" y="2468880"/>
            <a:ext cx="2423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支持时间旅行查询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878824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6B3FA0"/>
          </a:solidFill>
        </p:spPr>
      </p:sp>
      <p:sp>
        <p:nvSpPr>
          <p:cNvPr id="64" name="Text 62"/>
          <p:cNvSpPr/>
          <p:nvPr/>
        </p:nvSpPr>
        <p:spPr>
          <a:xfrm>
            <a:off x="8878824" y="2706624"/>
            <a:ext cx="1463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参考 HydraDB Ledger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82880" y="33832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41985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定期反思与记忆整理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200400" y="343814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后台异步执行，零运行时开销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3730752"/>
            <a:ext cx="36576" cy="71323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912" y="3767328"/>
            <a:ext cx="219456" cy="219456"/>
          </a:xfrm>
          <a:prstGeom prst="ellipse">
            <a:avLst/>
          </a:prstGeom>
          <a:solidFill>
            <a:srgbClr val="6B3FA0"/>
          </a:solidFill>
        </p:spPr>
      </p:sp>
      <p:sp>
        <p:nvSpPr>
          <p:cNvPr id="71" name="Text 69"/>
          <p:cNvSpPr/>
          <p:nvPr/>
        </p:nvSpPr>
        <p:spPr>
          <a:xfrm>
            <a:off x="4389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49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反思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389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 Episode 中发现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89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用户行为模式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89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步流水线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874520" y="4087368"/>
            <a:ext cx="73152" cy="914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9659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65960" y="3730752"/>
            <a:ext cx="36576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39112" y="3767328"/>
            <a:ext cx="219456" cy="219456"/>
          </a:xfrm>
          <a:prstGeom prst="ellipse">
            <a:avLst/>
          </a:prstGeom>
          <a:solidFill>
            <a:srgbClr val="B45309"/>
          </a:solidFill>
        </p:spPr>
      </p:sp>
      <p:sp>
        <p:nvSpPr>
          <p:cNvPr id="80" name="Text 78"/>
          <p:cNvSpPr/>
          <p:nvPr/>
        </p:nvSpPr>
        <p:spPr>
          <a:xfrm>
            <a:off x="20391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2951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证据聚合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391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支持/反驳证据链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0391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置信度 A/B/C/D 评级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0391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矛盾检测与消解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74720" y="4087368"/>
            <a:ext cx="73152" cy="914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35661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E0F2F1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66160" y="3730752"/>
            <a:ext cx="36576" cy="713232"/>
          </a:xfrm>
          <a:prstGeom prst="rect">
            <a:avLst/>
          </a:prstGeom>
          <a:solidFill>
            <a:srgbClr val="007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39312" y="3767328"/>
            <a:ext cx="219456" cy="219456"/>
          </a:xfrm>
          <a:prstGeom prst="ellipse">
            <a:avLst/>
          </a:prstGeom>
          <a:solidFill>
            <a:srgbClr val="00796B"/>
          </a:solidFill>
        </p:spPr>
      </p:sp>
      <p:sp>
        <p:nvSpPr>
          <p:cNvPr id="89" name="Text 87"/>
          <p:cNvSpPr/>
          <p:nvPr/>
        </p:nvSpPr>
        <p:spPr>
          <a:xfrm>
            <a:off x="3639312" y="3767328"/>
            <a:ext cx="21945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895344" y="3767328"/>
            <a:ext cx="10058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图谱整理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639312" y="4023360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合并冗余实体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639312" y="4151376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层级摘要 L0/L1/L2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639312" y="4279392"/>
            <a:ext cx="128016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智能遗忘低Q记忆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65760" y="4581144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" y="461772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Trait 生命周期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5D6D7E"/>
          </a:solidFill>
        </p:spPr>
      </p:sp>
      <p:sp>
        <p:nvSpPr>
          <p:cNvPr id="97" name="Text 95"/>
          <p:cNvSpPr/>
          <p:nvPr/>
        </p:nvSpPr>
        <p:spPr>
          <a:xfrm>
            <a:off x="54864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trend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97864" y="4992624"/>
            <a:ext cx="146304" cy="914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32588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</p:spPr>
      </p:sp>
      <p:sp>
        <p:nvSpPr>
          <p:cNvPr id="100" name="Text 98"/>
          <p:cNvSpPr/>
          <p:nvPr/>
        </p:nvSpPr>
        <p:spPr>
          <a:xfrm>
            <a:off x="132588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candidate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975104" y="4992624"/>
            <a:ext cx="146304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10312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</p:spPr>
      </p:sp>
      <p:sp>
        <p:nvSpPr>
          <p:cNvPr id="103" name="Text 101"/>
          <p:cNvSpPr/>
          <p:nvPr/>
        </p:nvSpPr>
        <p:spPr>
          <a:xfrm>
            <a:off x="210312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emerging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52344" y="4992624"/>
            <a:ext cx="146304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288036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0D7C66"/>
          </a:solidFill>
        </p:spPr>
      </p:sp>
      <p:sp>
        <p:nvSpPr>
          <p:cNvPr id="106" name="Text 104"/>
          <p:cNvSpPr/>
          <p:nvPr/>
        </p:nvSpPr>
        <p:spPr>
          <a:xfrm>
            <a:off x="288036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529584" y="4992624"/>
            <a:ext cx="146304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65760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6B3FA0"/>
          </a:solidFill>
        </p:spPr>
      </p:sp>
      <p:sp>
        <p:nvSpPr>
          <p:cNvPr id="109" name="Text 107"/>
          <p:cNvSpPr/>
          <p:nvPr/>
        </p:nvSpPr>
        <p:spPr>
          <a:xfrm>
            <a:off x="3657600" y="4855464"/>
            <a:ext cx="6675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97680" y="4443984"/>
            <a:ext cx="914" cy="914400"/>
          </a:xfrm>
          <a:prstGeom prst="line">
            <a:avLst/>
          </a:prstGeom>
          <a:noFill/>
          <a:ln w="19050">
            <a:solidFill>
              <a:srgbClr val="00796B"/>
            </a:solidFill>
            <a:prstDash val="dash"/>
          </a:ln>
        </p:spPr>
      </p:sp>
      <p:sp>
        <p:nvSpPr>
          <p:cNvPr id="111" name="Text 109"/>
          <p:cNvSpPr/>
          <p:nvPr/>
        </p:nvSpPr>
        <p:spPr>
          <a:xfrm>
            <a:off x="3566160" y="5239512"/>
            <a:ext cx="1463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79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持续优化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715000" y="3383280"/>
            <a:ext cx="626364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0" y="3419856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结构化带来的检索能力提升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585216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43600" y="374904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 传统方式：碎片化存储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5943600" y="3968496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"她讨厌那个框架" → 丢失主语和指代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943600" y="4114800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"I moved to the office" → 丢失职业上下文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5943600" y="4261104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更新覆盖旧值 → 历史信息永久丢失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943600" y="4462272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~40% 记忆碎片化不可检索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91540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06840" y="374904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  结构化方式：语义网络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9006840" y="3968496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代词消解 → 实体明确、可检索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9006840" y="4114800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图谱关联 → 多跳推理可达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9006840" y="4261104"/>
            <a:ext cx="274320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Append-only → 完整时间线可回溯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006840" y="4462272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三路融合检索 → 召回率大幅提升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85216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0D7C66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925312" y="500176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🔗 图谱多跳推理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5925312" y="5221224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Alice→Meta→React 关联推理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86968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6B3FA0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942832" y="500176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⏱️ 时间旅行查询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8942832" y="5221224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"去年 Q3 时的技术栈是什么"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85216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925312" y="5605272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🎯 三路融合召回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925312" y="582472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语义+增强+关键词 交叉验证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886968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942832" y="5605272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L0/L1/L2 渐进返回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942832" y="5824728"/>
            <a:ext cx="277977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先摘要后详情，节省 83% Token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竞争力本质：</a:t>
            </a:r>
            <a:r>
              <a:rPr lang="en-US" sz="12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竞品存储文本碎片，我们构建语义网络。</a:t>
            </a: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注入时增强（代词消解+图谱+多向量）+ 定期反思（Trait+证据+整理）= Agent 的结构化长期记忆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</a:t>
            </a:r>
            <a:r>
              <a:rPr lang="en-US" altLang="zh-CN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自演进记忆策略</a:t>
            </a:r>
            <a:r>
              <a:rPr lang="zh-CN" alt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en-US" sz="1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让系统自己学会如何记忆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不预设记忆策略，而是通过数据飞轮自动发现每个场景的最优记忆方式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603504"/>
            <a:ext cx="11731752" cy="438912"/>
          </a:xfrm>
          <a:prstGeom prst="roundRect">
            <a:avLst>
              <a:gd name="adj" fmla="val 12500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03504"/>
            <a:ext cx="54864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21792"/>
            <a:ext cx="1127455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核心命题：</a:t>
            </a:r>
            <a:r>
              <a:rPr lang="en-US" sz="1300" b="1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记忆策略 = 一组可学习的参数</a:t>
            </a:r>
            <a:r>
              <a:rPr lang="en-US" sz="11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（提取什么 / 怎么衰减 / 怎么检索 / 反思什么 / 怎么压缩）</a:t>
            </a:r>
            <a:r>
              <a:rPr lang="en-US" sz="1100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 →  通过 Agent 使用反馈自动调优，而非人工为每个场景设计规则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33856"/>
            <a:ext cx="2834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可学习的策略参数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89888"/>
            <a:ext cx="36576" cy="38404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📥 提取策略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提取什么类型？权重如何？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9816" y="1581912"/>
            <a:ext cx="219456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810512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810512"/>
            <a:ext cx="36576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⏳ 衰减函数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993392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不同类型衰减速率？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99816" y="2002536"/>
            <a:ext cx="219456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23113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231136"/>
            <a:ext cx="36576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49424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🔍 检索公式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414016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各信号混合权重？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99816" y="2423160"/>
            <a:ext cx="219456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65176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651760"/>
            <a:ext cx="36576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70048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🧠 Trait 焦点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反思什么行为维度？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99816" y="2843784"/>
            <a:ext cx="21945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" y="3072384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072384"/>
            <a:ext cx="36576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90672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📦 压缩策略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255264"/>
            <a:ext cx="2560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何时合并/归档？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99816" y="3264408"/>
            <a:ext cx="219456" cy="914"/>
          </a:xfrm>
          <a:prstGeom prst="line">
            <a:avLst/>
          </a:prstGeom>
          <a:noFill/>
          <a:ln w="19050">
            <a:solidFill>
              <a:srgbClr val="7D660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02736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602736"/>
            <a:ext cx="36576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63931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❌ 手工设计策略的问题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85876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需要领域专家，成本高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04164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用户行为在变，策略会过时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22452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无法 A/B 对比策略效果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407408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新场景上线周期长（月级）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1133856"/>
            <a:ext cx="5257800" cy="4983480"/>
          </a:xfrm>
          <a:prstGeom prst="roundRect">
            <a:avLst>
              <a:gd name="adj" fmla="val 1835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1152144"/>
            <a:ext cx="5257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🔄 自演进飞轮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447288" y="1426464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E8F6F3"/>
          </a:solidFill>
          <a:ln w="25400">
            <a:solidFill>
              <a:srgbClr val="0D7C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8728" y="1481328"/>
            <a:ext cx="548640" cy="219456"/>
          </a:xfrm>
          <a:prstGeom prst="ellipse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1481328"/>
            <a:ext cx="548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1481328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1：Q-value 实时反馈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38728" y="175564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调用记忆 → 任务成功/失败 → Q-value 自动更新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38728" y="195681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成功任务使用的记忆 → Q-value ↑  |  失败任务的记忆 → Q-value 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38728" y="213969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更新公式：Q_new = Q_old + α×(reward - Q_old)，零 GPU，纯数值更新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38728" y="232257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MemRL 研究证实：Q-value 加权检索在复杂多步任务提升 56%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38728" y="2542032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D7C66"/>
          </a:solidFill>
        </p:spPr>
      </p:sp>
      <p:sp>
        <p:nvSpPr>
          <p:cNvPr id="52" name="Text 50"/>
          <p:cNvSpPr/>
          <p:nvPr/>
        </p:nvSpPr>
        <p:spPr>
          <a:xfrm>
            <a:off x="3538728" y="2542032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Lakebase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66460" y="2816352"/>
            <a:ext cx="914" cy="128016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052060" y="2807208"/>
            <a:ext cx="18288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Q-value 轨迹数据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47288" y="2962656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EF3E8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38728" y="3017520"/>
            <a:ext cx="548640" cy="21945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38728" y="3017520"/>
            <a:ext cx="548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周级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160520" y="3017520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2：Lakebase 分支 A/B 实验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538728" y="329184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Copy-on-Write 分支 → 同一用户数据运行不同策略 → 对比效果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538728" y="349300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分支 A：高衰减策略  vs  分支 B：低衰减策略 → 聚合对比胜出上线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38728" y="367588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DataLake 聚合 Q-value 轨迹 → 发现场景级模式（如：客服场景情绪记忆 Q-value 显著更高）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38728" y="385876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自动调整：该场景的情绪提取权重 ↑、检索排序权重 ↑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3872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B45309"/>
          </a:solidFill>
        </p:spPr>
      </p:sp>
      <p:sp>
        <p:nvSpPr>
          <p:cNvPr id="64" name="Text 62"/>
          <p:cNvSpPr/>
          <p:nvPr/>
        </p:nvSpPr>
        <p:spPr>
          <a:xfrm>
            <a:off x="3538728" y="4078224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分支实验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2744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078B8"/>
          </a:solidFill>
        </p:spPr>
      </p:sp>
      <p:sp>
        <p:nvSpPr>
          <p:cNvPr id="66" name="Text 64"/>
          <p:cNvSpPr/>
          <p:nvPr/>
        </p:nvSpPr>
        <p:spPr>
          <a:xfrm>
            <a:off x="4727448" y="4078224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DataLake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66460" y="4352544"/>
            <a:ext cx="914" cy="12801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5052060" y="4343400"/>
            <a:ext cx="182880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策略对比数据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47288" y="4498848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3EDF9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38728" y="4553712"/>
            <a:ext cx="640080" cy="21945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38728" y="4553712"/>
            <a:ext cx="640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月/季度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251960" y="4553712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3：RL 策略模型训练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38728" y="4828032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导出 Q-value 轨迹 + Trait 证据链 → Lance 格式训练数据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538728" y="502920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RL 训练策略网络：输入(场景特征+记忆数据) → 输出(最优策略参数向量)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538728" y="521208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DPO 对比：好策略 vs 差策略 → 4B-8B 专用策略模型（Dria 证实 4B 专用 &gt; 70B 通用）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538728" y="539496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• 新场景冷启动：用已学场景的策略模型做迁移学习，几周内自动收敛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538728" y="5614416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6B3FA0"/>
          </a:solidFill>
        </p:spPr>
      </p:sp>
      <p:sp>
        <p:nvSpPr>
          <p:cNvPr id="78" name="Text 76"/>
          <p:cNvSpPr/>
          <p:nvPr/>
        </p:nvSpPr>
        <p:spPr>
          <a:xfrm>
            <a:off x="3538728" y="5614416"/>
            <a:ext cx="822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Ray RL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453128" y="5614416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</p:spPr>
      </p:sp>
      <p:sp>
        <p:nvSpPr>
          <p:cNvPr id="80" name="Text 78"/>
          <p:cNvSpPr/>
          <p:nvPr/>
        </p:nvSpPr>
        <p:spPr>
          <a:xfrm>
            <a:off x="4453128" y="5614416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NPU/GPU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64408" y="5184648"/>
            <a:ext cx="12801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3264408" y="2112264"/>
            <a:ext cx="914" cy="307238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3264408" y="2112264"/>
            <a:ext cx="182880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2834640" y="3511296"/>
            <a:ext cx="594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策略模型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更新参数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823960" y="1133856"/>
            <a:ext cx="3154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场景策略自动演进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823960" y="138988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1389888"/>
            <a:ext cx="36576" cy="40233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15400" y="1408176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🎧 客服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1201400" y="141732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D7C66"/>
          </a:solidFill>
        </p:spPr>
      </p:sp>
      <p:sp>
        <p:nvSpPr>
          <p:cNvPr id="90" name="Text 88"/>
          <p:cNvSpPr/>
          <p:nvPr/>
        </p:nvSpPr>
        <p:spPr>
          <a:xfrm>
            <a:off x="11201400" y="1417320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~3 周收敛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915400" y="1591056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自动学会：情绪记忆权重 &gt; 事实记忆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823960" y="182880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3960" y="1828800"/>
            <a:ext cx="36576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915400" y="1847088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💼 销售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1201400" y="185623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</p:spPr>
      </p:sp>
      <p:sp>
        <p:nvSpPr>
          <p:cNvPr id="96" name="Text 94"/>
          <p:cNvSpPr/>
          <p:nvPr/>
        </p:nvSpPr>
        <p:spPr>
          <a:xfrm>
            <a:off x="11201400" y="1856232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915400" y="2029968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自动学会：决策人+竞品提及 重点提取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823960" y="2267712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23960" y="2267712"/>
            <a:ext cx="36576" cy="40233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15400" y="2286000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3FA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📚 教育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1201400" y="2295144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6B3FA0"/>
          </a:solidFill>
        </p:spPr>
      </p:sp>
      <p:sp>
        <p:nvSpPr>
          <p:cNvPr id="102" name="Text 100"/>
          <p:cNvSpPr/>
          <p:nvPr/>
        </p:nvSpPr>
        <p:spPr>
          <a:xfrm>
            <a:off x="11201400" y="2295144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~2 周收敛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915400" y="2468880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自动学会：知识点永不衰减+错题高权重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823960" y="2706624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823960" y="2706624"/>
            <a:ext cx="36576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15400" y="2724912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🏥 医疗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1201400" y="2734056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C0392B"/>
          </a:solidFill>
        </p:spPr>
      </p:sp>
      <p:sp>
        <p:nvSpPr>
          <p:cNvPr id="108" name="Text 106"/>
          <p:cNvSpPr/>
          <p:nvPr/>
        </p:nvSpPr>
        <p:spPr>
          <a:xfrm>
            <a:off x="11201400" y="2734056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915400" y="2907792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自动学会：append-only + 症状时序链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823960" y="3145536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23960" y="3145536"/>
            <a:ext cx="3657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915400" y="3163824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⚖️ 法律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1201400" y="3172968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</p:spPr>
      </p:sp>
      <p:sp>
        <p:nvSpPr>
          <p:cNvPr id="114" name="Text 112"/>
          <p:cNvSpPr/>
          <p:nvPr/>
        </p:nvSpPr>
        <p:spPr>
          <a:xfrm>
            <a:off x="11201400" y="3172968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~6 周收敛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915400" y="3346704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自动学会：先例关联 + 法规版本追踪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823960" y="358444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23960" y="3584448"/>
            <a:ext cx="36576" cy="402336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915400" y="3602736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660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🔬 研究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1201400" y="361188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7D6608"/>
          </a:solidFill>
        </p:spPr>
      </p:sp>
      <p:sp>
        <p:nvSpPr>
          <p:cNvPr id="120" name="Text 118"/>
          <p:cNvSpPr/>
          <p:nvPr/>
        </p:nvSpPr>
        <p:spPr>
          <a:xfrm>
            <a:off x="11201400" y="3611880"/>
            <a:ext cx="713232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~5 周收敛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915400" y="3785616"/>
            <a:ext cx="2926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自动学会：论点链保留 + 矛盾检测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823960" y="4078224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15400" y="411480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跨场景迁移学习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915400" y="4297680"/>
            <a:ext cx="2926080" cy="219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新场景上线 → 已学策略模型热启动 → 几周内自动收敛到最优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823960" y="4626864"/>
            <a:ext cx="31546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为什么竞品无法复制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8823960" y="4864608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Mem0 / MemOS：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 Q-value 反馈，策略写死在代码里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823960" y="5065776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Supermemory：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有图谱但无学习闭环，无法自优化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823960" y="5266944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HydraDB：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高精度但静态策略，不能适应场景变化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823960" y="5468112"/>
            <a:ext cx="3154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D6D7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手工 Preset：</a:t>
            </a:r>
            <a:r>
              <a:rPr lang="en-US" sz="900" dirty="0">
                <a:solidFill>
                  <a:srgbClr val="C0392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需领域专家，不能演进，会过时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6437376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竞争力本质：</a:t>
            </a:r>
            <a:r>
              <a:rPr lang="en-US" sz="1300" b="1" dirty="0">
                <a:solidFill>
                  <a:srgbClr val="FFD7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竞品在设计记忆策略，我们在学习记忆策略。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365760" y="6638544"/>
            <a:ext cx="114574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Lakebase 分支实验  ×  DataLake 批量分析  ×  Q-value 闭环反馈  ×  Ray RL 策略训练  =  自演进飞轮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 Evolution - From Local to Cloud</dc:title>
  <dc:subject>PptxGenJS Presentation</dc:subject>
  <dc:creator>DBay</dc:creator>
  <cp:lastModifiedBy>DBay</cp:lastModifiedBy>
  <cp:revision>1</cp:revision>
  <dcterms:created xsi:type="dcterms:W3CDTF">2026-03-30T01:55:09Z</dcterms:created>
  <dcterms:modified xsi:type="dcterms:W3CDTF">2026-03-30T01:55:09Z</dcterms:modified>
</cp:coreProperties>
</file>