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2001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本地记忆方案对比：CC vs OpenClaw vs 云记忆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73001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从纯文本到语义检索，再到云端服务 — 三个演进阶段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31677"/>
            <a:ext cx="2641550" cy="3680222"/>
          </a:xfrm>
          <a:prstGeom prst="roundRect">
            <a:avLst>
              <a:gd name="adj" fmla="val 288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050727"/>
            <a:ext cx="2641550" cy="0"/>
          </a:xfrm>
          <a:prstGeom prst="line">
            <a:avLst/>
          </a:prstGeom>
          <a:noFill/>
          <a:ln w="38100">
            <a:solidFill>
              <a:srgbClr val="5D6D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901" y="1222177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1447502"/>
            <a:ext cx="2331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 Markdown 文件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1701403"/>
            <a:ext cx="2286149" cy="1072307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+ 独立记忆文件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检索：grep / 文件名匹配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200行截断，需人工修剪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 git 同步，但无语义理解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单人单项目，跨项目靠手动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4901" y="4361111"/>
            <a:ext cx="2286149" cy="0"/>
          </a:xfrm>
          <a:prstGeom prst="line">
            <a:avLst/>
          </a:prstGeom>
          <a:noFill/>
          <a:ln w="9525">
            <a:solidFill>
              <a:srgbClr val="DE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901" y="4416623"/>
            <a:ext cx="2331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类比：记事本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51150" y="1031677"/>
            <a:ext cx="2641699" cy="3680222"/>
          </a:xfrm>
          <a:prstGeom prst="roundRect">
            <a:avLst>
              <a:gd name="adj" fmla="val 2885"/>
            </a:avLst>
          </a:prstGeom>
          <a:solidFill>
            <a:srgbClr val="FEF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51150" y="1050727"/>
            <a:ext cx="2641699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8851" y="1222177"/>
            <a:ext cx="2332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8851" y="1447502"/>
            <a:ext cx="23320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SQLite 向量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28851" y="1701403"/>
            <a:ext cx="2286298" cy="1072307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存储 + sqlite-vec 向量索引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混合检索：70%语义 + 30%BM25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.sqlite 文件，不可网络共享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单进程，无并发写入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索引是二进制，无法 git 同步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28851" y="4361111"/>
            <a:ext cx="2286298" cy="0"/>
          </a:xfrm>
          <a:prstGeom prst="line">
            <a:avLst/>
          </a:prstGeom>
          <a:noFill/>
          <a:ln w="9525">
            <a:solidFill>
              <a:srgbClr val="DEE5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8851" y="4416623"/>
            <a:ext cx="23320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类比：个人笔记软件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45250" y="1031677"/>
            <a:ext cx="2641550" cy="3680222"/>
          </a:xfrm>
          <a:prstGeom prst="roundRect">
            <a:avLst>
              <a:gd name="adj" fmla="val 2885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45250" y="1050727"/>
            <a:ext cx="2641550" cy="0"/>
          </a:xfrm>
          <a:prstGeom prst="line">
            <a:avLst/>
          </a:prstGeom>
          <a:noFill/>
          <a:ln w="38100">
            <a:solidFill>
              <a:srgbClr val="0D7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2950" y="1222177"/>
            <a:ext cx="2331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Memory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22950" y="1447502"/>
            <a:ext cx="2331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云端记忆服务 (DBay)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22950" y="1701403"/>
            <a:ext cx="2286149" cy="1072307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云端向量 + 全文 + 结构化检索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接入，任何 Agent 可调用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多用户、多项目、多Agent共享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租户隔离 + 权限控制 + 审计日志</a:t>
            </a:r>
            <a:endParaRPr lang="en-US" sz="850" dirty="0"/>
          </a:p>
          <a:p>
            <a:pPr algn="l" marL="76200" indent="-76200">
              <a:lnSpc>
                <a:spcPts val="119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记忆属于用户，不属于 Agent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22950" y="4361111"/>
            <a:ext cx="2286149" cy="0"/>
          </a:xfrm>
          <a:prstGeom prst="line">
            <a:avLst/>
          </a:prstGeom>
          <a:noFill/>
          <a:ln w="9525">
            <a:solidFill>
              <a:srgbClr val="DEE5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2950" y="4416623"/>
            <a:ext cx="2331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类比：企业知识平台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4904" y="4813399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的 Markdown 能 git 同步但无语义 · OpenClaw 有语义但 SQLite 锁死单机 · 两者都困在本地范式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2001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痛点："养 Agent" — 每个 Agent 的记忆从零开始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73001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需要 1-2 周才真正好用 · 多 Agent 记忆完全割裂 · 用户反复付出训练成本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6376"/>
            <a:ext cx="4428530" cy="1243459"/>
          </a:xfrm>
          <a:prstGeom prst="roundRect">
            <a:avLst>
              <a:gd name="adj" fmla="val 612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133326"/>
            <a:ext cx="4154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"养"一个 Agent 的时间线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409551"/>
            <a:ext cx="4073128" cy="524173"/>
          </a:xfrm>
          <a:prstGeom prst="roundRect">
            <a:avLst>
              <a:gd name="adj" fmla="val 14537"/>
            </a:avLst>
          </a:prstGeom>
          <a:solidFill>
            <a:srgbClr val="FAFBFD"/>
          </a:solidFill>
          <a:ln w="9525">
            <a:solidFill>
              <a:srgbClr val="DEE5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350" y="1520577"/>
            <a:ext cx="92069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2350" y="1671638"/>
            <a:ext cx="92069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不了解用户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74019" y="1576983"/>
            <a:ext cx="6436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28094" y="1520577"/>
            <a:ext cx="92084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28094" y="1671638"/>
            <a:ext cx="92084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记住偏好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39913" y="1576983"/>
            <a:ext cx="6436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93990" y="1520577"/>
            <a:ext cx="92069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93990" y="1671638"/>
            <a:ext cx="92069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理解模式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05659" y="1576983"/>
            <a:ext cx="64365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9734" y="1520577"/>
            <a:ext cx="92084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9734" y="1671638"/>
            <a:ext cx="92084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终于好用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4901" y="1933724"/>
            <a:ext cx="415459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每次纠正 = 用户在付出训练成本，而这些经验无法迁移到其他 Agent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351336"/>
            <a:ext cx="4428530" cy="1116657"/>
          </a:xfrm>
          <a:prstGeom prst="roundRect">
            <a:avLst>
              <a:gd name="adj" fmla="val 6824"/>
            </a:avLst>
          </a:prstGeom>
          <a:solidFill>
            <a:srgbClr val="FDEDEC"/>
          </a:solidFill>
          <a:ln w="9525">
            <a:solidFill>
              <a:srgbClr val="E8AA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4426" y="2487811"/>
            <a:ext cx="4135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记忆完全割裂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426" y="2764036"/>
            <a:ext cx="413516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里说 "不要 mock 数据库" — OpenClaw 不知道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4426" y="2953196"/>
            <a:ext cx="413516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里纠正代码风格 — CC 不知道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4426" y="3142357"/>
            <a:ext cx="413516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两个都要养 = 双倍训练成本，零倍协同收益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63430" y="1006376"/>
            <a:ext cx="3623370" cy="2705100"/>
          </a:xfrm>
          <a:prstGeom prst="roundRect">
            <a:avLst>
              <a:gd name="adj" fmla="val 28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41131" y="1133326"/>
            <a:ext cx="3333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一个开发者的 Agent 记忆孤岛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41131" y="1409551"/>
            <a:ext cx="784027" cy="219075"/>
          </a:xfrm>
          <a:prstGeom prst="roundRect">
            <a:avLst>
              <a:gd name="adj" fmla="val 23188"/>
            </a:avLst>
          </a:prstGeom>
          <a:solidFill>
            <a:srgbClr val="E3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42632" y="1447651"/>
            <a:ext cx="5926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终端编程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01358" y="1409551"/>
            <a:ext cx="908447" cy="219075"/>
          </a:xfrm>
          <a:prstGeom prst="roundRect">
            <a:avLst>
              <a:gd name="adj" fmla="val 23188"/>
            </a:avLst>
          </a:prstGeom>
          <a:solidFill>
            <a:srgbClr val="E3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02859" y="1447651"/>
            <a:ext cx="7195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桌面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41131" y="1692027"/>
            <a:ext cx="705148" cy="219075"/>
          </a:xfrm>
          <a:prstGeom prst="roundRect">
            <a:avLst>
              <a:gd name="adj" fmla="val 23188"/>
            </a:avLst>
          </a:prstGeom>
          <a:solidFill>
            <a:srgbClr val="E3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42632" y="1730127"/>
            <a:ext cx="5121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IDE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22479" y="1692027"/>
            <a:ext cx="874514" cy="219075"/>
          </a:xfrm>
          <a:prstGeom prst="roundRect">
            <a:avLst>
              <a:gd name="adj" fmla="val 23188"/>
            </a:avLst>
          </a:prstGeom>
          <a:solidFill>
            <a:srgbClr val="E3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23980" y="1730127"/>
            <a:ext cx="6849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企业内部Agent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41131" y="1974503"/>
            <a:ext cx="3333327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500"/>
              </a:spcBef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Agent 独立记忆池</a:t>
            </a:r>
            <a:endParaRPr lang="en-US" sz="850" dirty="0"/>
          </a:p>
          <a:p>
            <a:pPr algn="l" indent="0" marL="0">
              <a:lnSpc>
                <a:spcPts val="1190"/>
              </a:lnSpc>
              <a:spcBef>
                <a:spcPts val="500"/>
              </a:spcBef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换一个 Agent = 记忆清零</a:t>
            </a:r>
            <a:endParaRPr lang="en-US" sz="850" dirty="0"/>
          </a:p>
          <a:p>
            <a:pPr algn="l" indent="0" marL="0">
              <a:lnSpc>
                <a:spcPts val="1190"/>
              </a:lnSpc>
              <a:spcBef>
                <a:spcPts val="500"/>
              </a:spcBef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个 Agent = N 倍养育成本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63430" y="3812977"/>
            <a:ext cx="3623370" cy="895648"/>
          </a:xfrm>
          <a:prstGeom prst="roundRect">
            <a:avLst>
              <a:gd name="adj" fmla="val 850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41131" y="3939927"/>
            <a:ext cx="3333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根本原因：记忆被锁在 Agent 里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41131" y="4203353"/>
            <a:ext cx="333332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记忆绑定在 Agent 内部，而不是属于用户本人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241131" y="4392513"/>
            <a:ext cx="333332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就像通讯录锁在微信里 — 换个聊天软件就丢了所有联系人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4904" y="4784824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记忆不应该属于 Agent，记忆应该属于用户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2001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企业场景的致命缺陷：团队协作、安全合规、非编程Agent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73001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/ OpenClaw 的本地记忆方案在企业环境下全面失效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80926"/>
            <a:ext cx="4025950" cy="747117"/>
          </a:xfrm>
          <a:prstGeom prst="roundRect">
            <a:avLst>
              <a:gd name="adj" fmla="val 1019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980926"/>
            <a:ext cx="0" cy="74711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1082427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知识无法共享与传承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7700" y="1301502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团队成员间无法共享记忆，重复踩坑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7700" y="1464022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员工离职 = 记忆随笔记本消失，经验归零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816894"/>
            <a:ext cx="4025950" cy="909638"/>
          </a:xfrm>
          <a:prstGeom prst="roundRect">
            <a:avLst>
              <a:gd name="adj" fmla="val 83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6250" y="1816894"/>
            <a:ext cx="0" cy="909638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1918395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安全审计不可能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7700" y="2137470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无法知道 Agent 记住了哪些敏感信息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7700" y="2299990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无法统一擦除（离职 / 合规要求时）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7700" y="2462510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敏感数据散落 N 台开发机，安全部门噩梦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815382"/>
            <a:ext cx="4025950" cy="909638"/>
          </a:xfrm>
          <a:prstGeom prst="roundRect">
            <a:avLst>
              <a:gd name="adj" fmla="val 83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2815382"/>
            <a:ext cx="0" cy="909637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700" y="2916882"/>
            <a:ext cx="37567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架构天花板 (OpenClaw)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700" y="3135957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单进程数据库，10人团队无法共享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7700" y="3298478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二进制索引无法 git 同步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7700" y="3460998"/>
            <a:ext cx="3756711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不同机器的 embedding 向量不兼容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0850" y="980926"/>
            <a:ext cx="4025950" cy="1420416"/>
          </a:xfrm>
          <a:prstGeom prst="roundRect">
            <a:avLst>
              <a:gd name="adj" fmla="val 5365"/>
            </a:avLst>
          </a:prstGeom>
          <a:solidFill>
            <a:srgbClr val="E3F0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2775" y="1117402"/>
            <a:ext cx="3776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非编程 Agent — 更大的市场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2775" y="1393627"/>
            <a:ext cx="688032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33801" y="1441252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 Agent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574209" y="1393627"/>
            <a:ext cx="629841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85234" y="1441252"/>
            <a:ext cx="4159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Agent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67450" y="1393627"/>
            <a:ext cx="688032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78476" y="1441252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 Agent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018883" y="1393627"/>
            <a:ext cx="688032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129909" y="1441252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 Agent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770316" y="1393627"/>
            <a:ext cx="688032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81342" y="1441252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法务 Agent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22775" y="1685627"/>
            <a:ext cx="688032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33801" y="1733252"/>
            <a:ext cx="475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 Agent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2775" y="1990427"/>
            <a:ext cx="3776142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 Agent 是云原生 SaaS 服务，根本没有本地文件系统</a:t>
            </a:r>
            <a:endParaRPr lang="en-US" sz="800" dirty="0"/>
          </a:p>
          <a:p>
            <a:pPr algn="l" indent="0" marL="0">
              <a:lnSpc>
                <a:spcPts val="108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/ SQLite 方案完全不适用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0850" y="2490192"/>
            <a:ext cx="4025950" cy="1565077"/>
          </a:xfrm>
          <a:prstGeom prst="roundRect">
            <a:avLst>
              <a:gd name="adj" fmla="val 4869"/>
            </a:avLst>
          </a:prstGeom>
          <a:solidFill>
            <a:srgbClr val="FAFBFD"/>
          </a:solidFill>
          <a:ln w="9525">
            <a:solidFill>
              <a:srgbClr val="DEE5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22775" y="2601218"/>
            <a:ext cx="37761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企业需求 vs 本地记忆能力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22775" y="2858393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10076" y="2858393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本地方案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05501" y="2858393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云端方案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22775" y="3039368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多人协作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10076" y="3039368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105501" y="3039368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原生支持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22775" y="3220343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权限控制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10076" y="3220343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05501" y="3220343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租户+角色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22775" y="3401318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审计日志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10076" y="3401318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不支持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105501" y="3401318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全链路追踪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22775" y="3582293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数据擦除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10076" y="3582293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逐机清理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105501" y="3582293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一键删除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22775" y="3763268"/>
            <a:ext cx="725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备份恢复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10076" y="3763268"/>
            <a:ext cx="14476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靠个人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105501" y="3763268"/>
            <a:ext cx="1447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自动备份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4904" y="4813399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 Agent 只是冰山一角 · 企业中更多 Agent 运行在云端，没有本地磁盘可用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D7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2001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解法：云端记忆层 — 记忆属于用户，不属于 Agent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73001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一次养育所有 Agent 共享 · 团队知识资产化 · 跨设备跨平台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80926"/>
            <a:ext cx="4831110" cy="840135"/>
          </a:xfrm>
          <a:prstGeom prst="roundRect">
            <a:avLst>
              <a:gd name="adj" fmla="val 9070"/>
            </a:avLst>
          </a:prstGeom>
          <a:solidFill>
            <a:srgbClr val="E8F6F3"/>
          </a:solidFill>
          <a:ln w="9525">
            <a:solidFill>
              <a:srgbClr val="A3D9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125" y="1091952"/>
            <a:ext cx="45974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核心范式转换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9125" y="1342727"/>
            <a:ext cx="4597405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本地范式：记忆 = Agent 的私有状态（换 Agent 就丢失）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9125" y="1526381"/>
            <a:ext cx="4597405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云端范式：记忆 = 用户的数字资产（跨 Agent、跨设备、可传承）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909911"/>
            <a:ext cx="4831110" cy="2817763"/>
          </a:xfrm>
          <a:prstGeom prst="roundRect">
            <a:avLst>
              <a:gd name="adj" fmla="val 270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2036862"/>
            <a:ext cx="46168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架构：Agent-agnostic Memory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2313087"/>
            <a:ext cx="812750" cy="374452"/>
          </a:xfrm>
          <a:prstGeom prst="roundRect">
            <a:avLst>
              <a:gd name="adj" fmla="val 10175"/>
            </a:avLst>
          </a:prstGeom>
          <a:solidFill>
            <a:srgbClr val="0D7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9196" y="2433638"/>
            <a:ext cx="673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层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23851" y="2428875"/>
            <a:ext cx="2244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/ OpenClaw / Cursor / 企业Agent / 自研Agent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3501" y="2725638"/>
            <a:ext cx="4357857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9600" y="2827288"/>
            <a:ext cx="812750" cy="345877"/>
          </a:xfrm>
          <a:prstGeom prst="roundRect">
            <a:avLst>
              <a:gd name="adj" fmla="val 11015"/>
            </a:avLst>
          </a:prstGeom>
          <a:solidFill>
            <a:srgbClr val="0D7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9196" y="2947839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API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523851" y="2928789"/>
            <a:ext cx="18934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/ recall / search — 标准化记忆接口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3501" y="3211264"/>
            <a:ext cx="4357857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9600" y="3312914"/>
            <a:ext cx="812750" cy="345877"/>
          </a:xfrm>
          <a:prstGeom prst="roundRect">
            <a:avLst>
              <a:gd name="adj" fmla="val 11015"/>
            </a:avLst>
          </a:prstGeom>
          <a:solidFill>
            <a:srgbClr val="0D7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9196" y="3433465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23851" y="3414415"/>
            <a:ext cx="16114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 + 全文 + 结构化 + 权限 + 审计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3501" y="3696891"/>
            <a:ext cx="4357857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9600" y="3798540"/>
            <a:ext cx="812750" cy="345877"/>
          </a:xfrm>
          <a:prstGeom prst="roundRect">
            <a:avLst>
              <a:gd name="adj" fmla="val 11015"/>
            </a:avLst>
          </a:prstGeom>
          <a:solidFill>
            <a:srgbClr val="0D7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9196" y="3919091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23851" y="3900041"/>
            <a:ext cx="17377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租户隔离 · 加密存储 · 合规擦除 · SSO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66011" y="980926"/>
            <a:ext cx="3220789" cy="894011"/>
          </a:xfrm>
          <a:prstGeom prst="roundRect">
            <a:avLst>
              <a:gd name="adj" fmla="val 852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92961" y="1082427"/>
            <a:ext cx="30262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对个人开发者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92961" y="1301502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里的纠正，OpenClaw 自动知道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92961" y="1458813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新项目即刻继承所有历史偏好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92961" y="1616125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不用再"养"任何 Agent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6011" y="1963787"/>
            <a:ext cx="3220789" cy="894011"/>
          </a:xfrm>
          <a:prstGeom prst="roundRect">
            <a:avLst>
              <a:gd name="adj" fmla="val 852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92961" y="2065288"/>
            <a:ext cx="30262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对企业团队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92961" y="2284363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新员工继承团队知识，Day 1 即战力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92961" y="2441674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安全部门可审计、可擦除、可管控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92961" y="2598986"/>
            <a:ext cx="30262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非编程 Agent 通过 API 接入同一记忆池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6011" y="2946648"/>
            <a:ext cx="3220789" cy="1781026"/>
          </a:xfrm>
          <a:prstGeom prst="roundRect">
            <a:avLst>
              <a:gd name="adj" fmla="val 4278"/>
            </a:avLst>
          </a:prstGeom>
          <a:solidFill>
            <a:srgbClr val="E8F6F3"/>
          </a:solidFill>
          <a:ln w="9525">
            <a:solidFill>
              <a:srgbClr val="0D7C6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02486" y="3057674"/>
            <a:ext cx="30067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效果对比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02486" y="3289399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每个Agent养2周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101780" y="3289399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养一次，处处可用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02486" y="3457575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记忆随Agent割裂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01780" y="3457575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统一记忆池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02486" y="3625751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员工离职知识丢失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01780" y="3625751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团队知识资产沉淀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02486" y="3793927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安全审计不可控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01780" y="3793927"/>
            <a:ext cx="1477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全链路审计管控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4904" y="4803874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就像从 SQLite 到云数据库 — Agent 记忆必然从本地文件走向云服务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Memory Evolution - From Local to Cloud</dc:title>
  <dc:subject>PptxGenJS Presentation</dc:subject>
  <dc:creator>DBay</dc:creator>
  <cp:lastModifiedBy>DBay</cp:lastModifiedBy>
  <cp:revision>1</cp:revision>
  <dcterms:created xsi:type="dcterms:W3CDTF">2026-03-30T01:55:09Z</dcterms:created>
  <dcterms:modified xsi:type="dcterms:W3CDTF">2026-03-30T01:55:09Z</dcterms:modified>
</cp:coreProperties>
</file>