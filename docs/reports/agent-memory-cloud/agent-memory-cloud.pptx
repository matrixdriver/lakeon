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123355"/>
            <a:ext cx="7772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Memory: From Local Files to Cloud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323505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为什么本地记忆无法满足企业级Agent需求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3018830"/>
            <a:ext cx="7772400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/ OpenClaw 等 Agent 的本地记忆方案分析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企业场景下的痛点与云端记忆解法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4619625"/>
            <a:ext cx="2065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DBay · Agent Memory Infrastructure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23014" y="4619625"/>
            <a:ext cx="468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现状：Agent 记忆的三个阶段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22275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从纯文本到语义检索，再到云端服务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1276201"/>
            <a:ext cx="2573834" cy="3299073"/>
          </a:xfrm>
          <a:prstGeom prst="roundRect">
            <a:avLst>
              <a:gd name="adj" fmla="val 3947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95251"/>
            <a:ext cx="2573834" cy="0"/>
          </a:xfrm>
          <a:prstGeom prst="line">
            <a:avLst/>
          </a:prstGeom>
          <a:noFill/>
          <a:ln w="38100">
            <a:solidFill>
              <a:srgbClr val="888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542901"/>
            <a:ext cx="2210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01" y="1790551"/>
            <a:ext cx="22108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66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 Markdown 文件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2104876"/>
            <a:ext cx="2167533" cy="12888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+ 独立记忆文件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检索方式：grep / 文件名匹配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200行截断，需人工修剪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 git 同步，但无语义理解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单人单项目，跨项目靠手动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1101" y="4126111"/>
            <a:ext cx="2167533" cy="0"/>
          </a:xfrm>
          <a:prstGeom prst="line">
            <a:avLst/>
          </a:prstGeom>
          <a:noFill/>
          <a:ln w="9525">
            <a:solidFill>
              <a:srgbClr val="33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101" y="4194274"/>
            <a:ext cx="22108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6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类比：记事本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4934" y="1276201"/>
            <a:ext cx="2573982" cy="3299073"/>
          </a:xfrm>
          <a:prstGeom prst="roundRect">
            <a:avLst>
              <a:gd name="adj" fmla="val 3947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84934" y="1295251"/>
            <a:ext cx="2573982" cy="0"/>
          </a:xfrm>
          <a:prstGeom prst="line">
            <a:avLst/>
          </a:prstGeom>
          <a:noFill/>
          <a:ln w="38100">
            <a:solidFill>
              <a:srgbClr val="FF9F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8085" y="1542901"/>
            <a:ext cx="22110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88085" y="1790551"/>
            <a:ext cx="22110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66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SQLite 向量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88085" y="2104876"/>
            <a:ext cx="2167682" cy="12888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Markdown存储 + sqlite-vec 向量索引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混合检索：70%语义 + 30%BM25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.sqlite 文件，不可网络共享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单进程，无并发写入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索引是二进制，无法 git 同步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88085" y="4126111"/>
            <a:ext cx="2167682" cy="0"/>
          </a:xfrm>
          <a:prstGeom prst="line">
            <a:avLst/>
          </a:prstGeom>
          <a:noFill/>
          <a:ln w="9525">
            <a:solidFill>
              <a:srgbClr val="33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8085" y="4194274"/>
            <a:ext cx="2211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6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类比：个人笔记软件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62067" y="1276201"/>
            <a:ext cx="2573982" cy="3299073"/>
          </a:xfrm>
          <a:prstGeom prst="roundRect">
            <a:avLst>
              <a:gd name="adj" fmla="val 3947"/>
            </a:avLst>
          </a:prstGeom>
          <a:solidFill>
            <a:srgbClr val="152E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62067" y="1295251"/>
            <a:ext cx="2573982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5218" y="1542901"/>
            <a:ext cx="22110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Memory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5218" y="1790551"/>
            <a:ext cx="22110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66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云端记忆服务 (DBay)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5218" y="2104876"/>
            <a:ext cx="2167682" cy="12888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云端存储 + 向量 + 全文 + 结构化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接入，任何 Agent 可调用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多用户、多项目、多Agent共享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租户隔离 + 权限控制 + 审计日志</a:t>
            </a:r>
            <a:endParaRPr lang="en-US" sz="950" dirty="0"/>
          </a:p>
          <a:p>
            <a:pPr algn="l" marL="88900" indent="-88900">
              <a:lnSpc>
                <a:spcPts val="133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记忆属于用户，不属于 Agent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5218" y="4126111"/>
            <a:ext cx="2167682" cy="0"/>
          </a:xfrm>
          <a:prstGeom prst="line">
            <a:avLst/>
          </a:prstGeom>
          <a:noFill/>
          <a:ln w="9525">
            <a:solidFill>
              <a:srgbClr val="333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5218" y="4194274"/>
            <a:ext cx="2211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6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类比：企业知识平台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6669" y="4727674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的 Markdown 能 git 同步但无语义 · OpenClaw 有语义但 SQLite 锁死单机 · 两者都困在本地范式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痛点一："养 Agent" — 记忆从零开始的代价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22275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需要 1-2 周才能真正好用，本质是用户在训练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1250900"/>
            <a:ext cx="4330750" cy="1526679"/>
          </a:xfrm>
          <a:prstGeom prst="roundRect">
            <a:avLst>
              <a:gd name="adj" fmla="val 4991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428601"/>
            <a:ext cx="40029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"养"的时间线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101" y="1739652"/>
            <a:ext cx="3924449" cy="615851"/>
          </a:xfrm>
          <a:prstGeom prst="roundRect">
            <a:avLst>
              <a:gd name="adj" fmla="val 12373"/>
            </a:avLst>
          </a:prstGeom>
          <a:solidFill>
            <a:srgbClr val="252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409" y="1866602"/>
            <a:ext cx="856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0409" y="2047577"/>
            <a:ext cx="856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不了解用户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28043" y="1925389"/>
            <a:ext cx="719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90194" y="1866602"/>
            <a:ext cx="856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90194" y="2047577"/>
            <a:ext cx="856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记住偏好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37979" y="1925389"/>
            <a:ext cx="719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00129" y="1866602"/>
            <a:ext cx="856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00129" y="2047577"/>
            <a:ext cx="856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理解模式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47914" y="1925389"/>
            <a:ext cx="719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0064" y="1866602"/>
            <a:ext cx="856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0064" y="2047577"/>
            <a:ext cx="856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终于好用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1101" y="2355503"/>
            <a:ext cx="40029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每次纠正 = 用户在付出训练成本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7950" y="2904530"/>
            <a:ext cx="4330750" cy="1418630"/>
          </a:xfrm>
          <a:prstGeom prst="roundRect">
            <a:avLst>
              <a:gd name="adj" fmla="val 5371"/>
            </a:avLst>
          </a:prstGeom>
          <a:solidFill>
            <a:srgbClr val="2A1520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0626" y="3091755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记忆割裂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0626" y="3402806"/>
            <a:ext cx="39835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D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里说 "不要 mock 数据库" — OpenClaw 不知道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0626" y="3647182"/>
            <a:ext cx="39835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D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里纠正代码风格 — CC 不知道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0626" y="3891558"/>
            <a:ext cx="39835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D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两个都要养 = 双倍训练成本，零倍协同收益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92601" y="1250900"/>
            <a:ext cx="3543449" cy="1869579"/>
          </a:xfrm>
          <a:prstGeom prst="roundRect">
            <a:avLst>
              <a:gd name="adj" fmla="val 4076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5751" y="1428601"/>
            <a:ext cx="3199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一个开发者的 Agent 记忆孤岛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95751" y="1739652"/>
            <a:ext cx="871538" cy="253901"/>
          </a:xfrm>
          <a:prstGeom prst="roundRect">
            <a:avLst>
              <a:gd name="adj" fmla="val 20008"/>
            </a:avLst>
          </a:prstGeom>
          <a:solidFill>
            <a:srgbClr val="252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22702" y="1790402"/>
            <a:ext cx="6299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终端编程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68789" y="1739652"/>
            <a:ext cx="1003697" cy="253901"/>
          </a:xfrm>
          <a:prstGeom prst="roundRect">
            <a:avLst>
              <a:gd name="adj" fmla="val 20008"/>
            </a:avLst>
          </a:prstGeom>
          <a:solidFill>
            <a:srgbClr val="252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95740" y="1790402"/>
            <a:ext cx="764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桌面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295751" y="2069753"/>
            <a:ext cx="787598" cy="253901"/>
          </a:xfrm>
          <a:prstGeom prst="roundRect">
            <a:avLst>
              <a:gd name="adj" fmla="val 20008"/>
            </a:avLst>
          </a:prstGeom>
          <a:solidFill>
            <a:srgbClr val="252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22702" y="2139553"/>
            <a:ext cx="544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84850" y="2069753"/>
            <a:ext cx="967680" cy="253901"/>
          </a:xfrm>
          <a:prstGeom prst="roundRect">
            <a:avLst>
              <a:gd name="adj" fmla="val 20008"/>
            </a:avLst>
          </a:prstGeom>
          <a:solidFill>
            <a:srgbClr val="252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11801" y="2120503"/>
            <a:ext cx="7280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企业内部Agent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95751" y="2399854"/>
            <a:ext cx="319989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Agent 独立记忆池</a:t>
            </a:r>
            <a:endParaRPr lang="en-US" sz="950" dirty="0"/>
          </a:p>
          <a:p>
            <a:pPr algn="l" indent="0" marL="0">
              <a:lnSpc>
                <a:spcPts val="1425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换一个 Agent = 记忆清零</a:t>
            </a:r>
            <a:endParaRPr lang="en-US" sz="950" dirty="0"/>
          </a:p>
          <a:p>
            <a:pPr algn="l" indent="0" marL="0">
              <a:lnSpc>
                <a:spcPts val="1425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个 Agent = N 倍养育成本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92601" y="3247430"/>
            <a:ext cx="3543449" cy="1517154"/>
          </a:xfrm>
          <a:prstGeom prst="roundRect">
            <a:avLst>
              <a:gd name="adj" fmla="val 5023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95751" y="3425130"/>
            <a:ext cx="3199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95751" y="3736181"/>
            <a:ext cx="319989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记忆被绑定在 Agent 内部</a:t>
            </a:r>
            <a:endParaRPr lang="en-US" sz="950" dirty="0"/>
          </a:p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而不是属于用户本人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95751" y="4161532"/>
            <a:ext cx="319989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就像通讯录锁在微信里</a:t>
            </a:r>
            <a:endParaRPr lang="en-US" sz="950" dirty="0"/>
          </a:p>
          <a:p>
            <a:pPr algn="l" indent="0" marL="0"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换个聊天软件就丢了所有联系人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6669" y="4764584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记忆不应该属于 Agent，记忆应该属于用户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痛点二：企业场景的致命缺陷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695325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本地记忆在团队协作、安全合规、非编程Agent上全面失效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1028700"/>
            <a:ext cx="3975199" cy="838349"/>
          </a:xfrm>
          <a:prstGeom prst="roundRect">
            <a:avLst>
              <a:gd name="adj" fmla="val 9089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028700"/>
            <a:ext cx="0" cy="838349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155650"/>
            <a:ext cx="37049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知识无法共享与传承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450" y="1387376"/>
            <a:ext cx="370494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团队成员间无法共享记忆，重复踩坑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8450" y="1563737"/>
            <a:ext cx="370494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员工离职 = 记忆随笔记本消失，经验归零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950" y="1993999"/>
            <a:ext cx="3975199" cy="1014710"/>
          </a:xfrm>
          <a:prstGeom prst="roundRect">
            <a:avLst>
              <a:gd name="adj" fmla="val 7510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1993999"/>
            <a:ext cx="0" cy="101471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2120950"/>
            <a:ext cx="37049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安全审计不可能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8450" y="2352675"/>
            <a:ext cx="370494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无法知道 Agent 记住了哪些敏感信息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8450" y="2529036"/>
            <a:ext cx="370494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无法统一擦除（离职/合规要求）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8450" y="2705398"/>
            <a:ext cx="370494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敏感数据散落 N 台开发机，安全部门噩梦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7950" y="3135660"/>
            <a:ext cx="3975199" cy="1014710"/>
          </a:xfrm>
          <a:prstGeom prst="roundRect">
            <a:avLst>
              <a:gd name="adj" fmla="val 7510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7000" y="3135660"/>
            <a:ext cx="0" cy="101471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450" y="3262610"/>
            <a:ext cx="37049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架构天花板 (OpenClaw)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450" y="3494336"/>
            <a:ext cx="370494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单进程数据库，10人团队无法共享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8450" y="3670697"/>
            <a:ext cx="370494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二进制索引无法 git 同步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8450" y="3847058"/>
            <a:ext cx="370494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不同机器的 embedding 向量不兼容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0850" y="1028700"/>
            <a:ext cx="3975199" cy="1901577"/>
          </a:xfrm>
          <a:prstGeom prst="roundRect">
            <a:avLst>
              <a:gd name="adj" fmla="val 4007"/>
            </a:avLst>
          </a:prstGeom>
          <a:solidFill>
            <a:srgbClr val="1A2535"/>
          </a:solidFill>
          <a:ln w="9525">
            <a:solidFill>
              <a:srgbClr val="2A40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48076" y="1215926"/>
            <a:ext cx="36727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非编程 Agent — 更大的市场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8076" y="1526977"/>
            <a:ext cx="781794" cy="279202"/>
          </a:xfrm>
          <a:prstGeom prst="roundRect">
            <a:avLst>
              <a:gd name="adj" fmla="val 18195"/>
            </a:avLst>
          </a:prstGeom>
          <a:solidFill>
            <a:srgbClr val="253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75027" y="1590377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 Agent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06070" y="1526977"/>
            <a:ext cx="715863" cy="279202"/>
          </a:xfrm>
          <a:prstGeom prst="roundRect">
            <a:avLst>
              <a:gd name="adj" fmla="val 18195"/>
            </a:avLst>
          </a:prstGeom>
          <a:solidFill>
            <a:srgbClr val="253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33021" y="1590377"/>
            <a:ext cx="4712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Agent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8134" y="1526977"/>
            <a:ext cx="781794" cy="279202"/>
          </a:xfrm>
          <a:prstGeom prst="roundRect">
            <a:avLst>
              <a:gd name="adj" fmla="val 18195"/>
            </a:avLst>
          </a:prstGeom>
          <a:solidFill>
            <a:srgbClr val="253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25084" y="1590377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 Agent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56128" y="1526977"/>
            <a:ext cx="781794" cy="279202"/>
          </a:xfrm>
          <a:prstGeom prst="roundRect">
            <a:avLst>
              <a:gd name="adj" fmla="val 18195"/>
            </a:avLst>
          </a:prstGeom>
          <a:solidFill>
            <a:srgbClr val="253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83078" y="1590377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 Agent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8076" y="1882378"/>
            <a:ext cx="781794" cy="279202"/>
          </a:xfrm>
          <a:prstGeom prst="roundRect">
            <a:avLst>
              <a:gd name="adj" fmla="val 18195"/>
            </a:avLst>
          </a:prstGeom>
          <a:solidFill>
            <a:srgbClr val="253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75027" y="1945779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 Agent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06070" y="1882378"/>
            <a:ext cx="781794" cy="279202"/>
          </a:xfrm>
          <a:prstGeom prst="roundRect">
            <a:avLst>
              <a:gd name="adj" fmla="val 18195"/>
            </a:avLst>
          </a:prstGeom>
          <a:solidFill>
            <a:srgbClr val="253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833021" y="1945779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 Agent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8076" y="2263080"/>
            <a:ext cx="367276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 Agent 是云原生 SaaS 服务</a:t>
            </a:r>
            <a:endParaRPr lang="en-US" sz="900" dirty="0"/>
          </a:p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根本没有本地文件系统</a:t>
            </a:r>
            <a:endParaRPr lang="en-US" sz="900" dirty="0"/>
          </a:p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/ SQLite 方案完全不适用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0850" y="3057227"/>
            <a:ext cx="3975199" cy="1825228"/>
          </a:xfrm>
          <a:prstGeom prst="roundRect">
            <a:avLst>
              <a:gd name="adj" fmla="val 4175"/>
            </a:avLst>
          </a:prstGeom>
          <a:solidFill>
            <a:srgbClr val="2525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38551" y="3209627"/>
            <a:ext cx="3692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企业需求 vs 本地记忆能力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38551" y="3511153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29002" y="3511153"/>
            <a:ext cx="128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本地方案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194352" y="3511153"/>
            <a:ext cx="1289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云端方案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38551" y="3714304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多人协作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29002" y="3714304"/>
            <a:ext cx="128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194352" y="3714304"/>
            <a:ext cx="1289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原生支持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38551" y="3917454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权限控制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29002" y="3917454"/>
            <a:ext cx="128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194352" y="3917454"/>
            <a:ext cx="1289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租户+角色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38551" y="4120604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29002" y="4120604"/>
            <a:ext cx="128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194352" y="4120604"/>
            <a:ext cx="1289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全链路追踪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38551" y="4323755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数据擦除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29002" y="4323755"/>
            <a:ext cx="128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逐机清理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194352" y="4323755"/>
            <a:ext cx="1289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一键删除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38551" y="4526905"/>
            <a:ext cx="9067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备份恢复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29002" y="4526905"/>
            <a:ext cx="128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靠个人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194352" y="4526905"/>
            <a:ext cx="1289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自动备份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26669" y="498395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编程Agent只是冰山一角 · 企业中更多Agent运行在云端，没有本地磁盘可用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解法：云端记忆层 — 记忆属于用户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669875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一次养育，所有 Agent 共享 · 团队知识资产化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77801"/>
            <a:ext cx="4770239" cy="914698"/>
          </a:xfrm>
          <a:prstGeom prst="roundRect">
            <a:avLst>
              <a:gd name="adj" fmla="val 8331"/>
            </a:avLst>
          </a:prstGeom>
          <a:solidFill>
            <a:srgbClr val="152E2B"/>
          </a:solidFill>
          <a:ln w="9525">
            <a:solidFill>
              <a:srgbClr val="2A55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114276"/>
            <a:ext cx="44837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核心范式转换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5176" y="1377702"/>
            <a:ext cx="4483703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CC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本地范式：记忆 = Agent 的私有状态（换 Agent 就丢失）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5176" y="1566863"/>
            <a:ext cx="4483703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CC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云端范式：记忆 = 用户的数字资产（跨 Agent、跨设备、可传承）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7950" y="1993999"/>
            <a:ext cx="4770239" cy="2733675"/>
          </a:xfrm>
          <a:prstGeom prst="roundRect">
            <a:avLst>
              <a:gd name="adj" fmla="val 2787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2120950"/>
            <a:ext cx="4503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架构：Agent-agnostic Memory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651" y="2397175"/>
            <a:ext cx="812750" cy="374452"/>
          </a:xfrm>
          <a:prstGeom prst="roundRect">
            <a:avLst>
              <a:gd name="adj" fmla="val 10175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5248" y="2517725"/>
            <a:ext cx="673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层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99902" y="2512963"/>
            <a:ext cx="2244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/ OpenClaw / Cursor / 企业Agent / 自研Agent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39552" y="2822377"/>
            <a:ext cx="4244155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651" y="2924026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5248" y="3044577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API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99902" y="3025527"/>
            <a:ext cx="1893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/ recall / search — 标准化记忆接口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39552" y="3320653"/>
            <a:ext cx="4244155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651" y="3422303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5248" y="3542854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599902" y="3523804"/>
            <a:ext cx="16114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 + 全文 + 结构化 + 权限 + 审计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39552" y="3818930"/>
            <a:ext cx="4244155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651" y="3920579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5248" y="4041130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599902" y="4022080"/>
            <a:ext cx="1737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租户隔离 · 加密存储 · 合规擦除 · SSO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55890" y="977801"/>
            <a:ext cx="3180159" cy="931218"/>
          </a:xfrm>
          <a:prstGeom prst="roundRect">
            <a:avLst>
              <a:gd name="adj" fmla="val 8183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08290" y="1079302"/>
            <a:ext cx="2932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对开发者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08290" y="1311027"/>
            <a:ext cx="293286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里的纠正，OpenClaw 自动知道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08290" y="1476524"/>
            <a:ext cx="293286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新项目即刻继承所有历史偏好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08290" y="1642021"/>
            <a:ext cx="293286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不用再"养"任何 Agent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55890" y="2010519"/>
            <a:ext cx="3180159" cy="931218"/>
          </a:xfrm>
          <a:prstGeom prst="roundRect">
            <a:avLst>
              <a:gd name="adj" fmla="val 8183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08290" y="2112020"/>
            <a:ext cx="2932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对企业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08290" y="2343745"/>
            <a:ext cx="293286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新员工继承团队知识，Day 1 即战力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08290" y="2509242"/>
            <a:ext cx="293286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安全部门可审计、可擦除、可管控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08290" y="2674739"/>
            <a:ext cx="293286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非编程 Agent 通过 API 接入同一记忆池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55890" y="3043238"/>
            <a:ext cx="3180159" cy="1684437"/>
          </a:xfrm>
          <a:prstGeom prst="roundRect">
            <a:avLst>
              <a:gd name="adj" fmla="val 4524"/>
            </a:avLst>
          </a:prstGeom>
          <a:solidFill>
            <a:srgbClr val="152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17815" y="3154263"/>
            <a:ext cx="29134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效果对比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17815" y="3398639"/>
            <a:ext cx="1430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每个Agent养2周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71271" y="3398639"/>
            <a:ext cx="1430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养一次，处处可用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17815" y="3579614"/>
            <a:ext cx="1430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记忆随Agent割裂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71271" y="3579614"/>
            <a:ext cx="1430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统一记忆池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17815" y="3760589"/>
            <a:ext cx="1430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员工离职知识丢失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71271" y="3760589"/>
            <a:ext cx="1430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团队知识资产沉淀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17815" y="3941564"/>
            <a:ext cx="1430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安全不可控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71271" y="3941564"/>
            <a:ext cx="1430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全链路审计管控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6669" y="4803874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就像从 SQLite 到云数据库 — Agent 记忆必然从本地文件走向云服务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价值路径：从个人切入，向企业扩展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22275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公有云优先，记忆即服务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1250900"/>
            <a:ext cx="2590800" cy="1635323"/>
          </a:xfrm>
          <a:prstGeom prst="roundRect">
            <a:avLst>
              <a:gd name="adj" fmla="val 4660"/>
            </a:avLst>
          </a:prstGeom>
          <a:solidFill>
            <a:srgbClr val="152E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69950"/>
            <a:ext cx="259080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466701"/>
            <a:ext cx="22281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切入点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1101" y="1664791"/>
            <a:ext cx="22281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个人开发者记忆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101" y="1950541"/>
            <a:ext cx="22281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/ OpenClaw 用户通过 MCP 接入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1101" y="2148632"/>
            <a:ext cx="22281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 Agent 记忆同步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1101" y="2346722"/>
            <a:ext cx="22281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替代本地 Markdown / SQLite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1101" y="2557463"/>
            <a:ext cx="2228189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400"/>
              </a:spcBef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目标：证明价值，获取用户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76451" y="1250900"/>
            <a:ext cx="2590949" cy="1635323"/>
          </a:xfrm>
          <a:prstGeom prst="roundRect">
            <a:avLst>
              <a:gd name="adj" fmla="val 4660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76451" y="1269950"/>
            <a:ext cx="2590949" cy="0"/>
          </a:xfrm>
          <a:prstGeom prst="line">
            <a:avLst/>
          </a:prstGeom>
          <a:noFill/>
          <a:ln w="38100">
            <a:solidFill>
              <a:srgbClr val="33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9602" y="1466701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55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付费点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9602" y="1664791"/>
            <a:ext cx="2228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团队共享记忆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9602" y="1950541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团队空间 + 权限管理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9602" y="2148632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新人入职即获团队经验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9602" y="2346722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知识传承，减少重复踩坑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9602" y="2557463"/>
            <a:ext cx="222834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400"/>
              </a:spcBef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目标：团队订阅，持续付费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45101" y="1250900"/>
            <a:ext cx="2590949" cy="1635323"/>
          </a:xfrm>
          <a:prstGeom prst="roundRect">
            <a:avLst>
              <a:gd name="adj" fmla="val 4660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45101" y="1269950"/>
            <a:ext cx="2590949" cy="0"/>
          </a:xfrm>
          <a:prstGeom prst="line">
            <a:avLst/>
          </a:prstGeom>
          <a:noFill/>
          <a:ln w="38100">
            <a:solidFill>
              <a:srgbClr val="333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8251" y="1466701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55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壁垒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48251" y="1664791"/>
            <a:ext cx="2228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企业知识资产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48251" y="1950541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多类型 Agent 统一记忆池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48251" y="2148632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安全合规（审计/擦除/加密）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8251" y="2346722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私有部署 / VPC 内部署选项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48251" y="2557463"/>
            <a:ext cx="222834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400"/>
              </a:spcBef>
              <a:buNone/>
            </a:pPr>
            <a:r>
              <a:rPr lang="en-US" sz="8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目标：企业级壁垒，不可替换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7950" y="3063925"/>
            <a:ext cx="4716959" cy="1509415"/>
          </a:xfrm>
          <a:prstGeom prst="roundRect">
            <a:avLst>
              <a:gd name="adj" fmla="val 5048"/>
            </a:avLst>
          </a:prstGeom>
          <a:solidFill>
            <a:srgbClr val="152E2B"/>
          </a:solidFill>
          <a:ln w="9525">
            <a:solidFill>
              <a:srgbClr val="2A55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6075" y="3251150"/>
            <a:ext cx="43255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6075" y="3581251"/>
            <a:ext cx="4325523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CC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Markdown 是 Agent 记忆的"单机时代"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6075" y="3847654"/>
            <a:ext cx="4325523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CC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企业需要的是"云时代"的记忆基础设施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6075" y="4114056"/>
            <a:ext cx="4325523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CC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非编程 Agent 的爆发将加速云记忆的需求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02610" y="3063925"/>
            <a:ext cx="3233440" cy="1509415"/>
          </a:xfrm>
          <a:prstGeom prst="roundRect">
            <a:avLst>
              <a:gd name="adj" fmla="val 5048"/>
            </a:avLst>
          </a:prstGeom>
          <a:solidFill>
            <a:srgbClr val="1E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05760" y="3241625"/>
            <a:ext cx="2883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为什么是公有云优先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05760" y="3552676"/>
            <a:ext cx="288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本地方案已有 CC / OpenClaw 免费提供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05760" y="3763417"/>
            <a:ext cx="288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云端多 Agent 互通是本地不可能实现的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05760" y="3974157"/>
            <a:ext cx="288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 + 安全合规 = 企业付费意愿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05760" y="4184898"/>
            <a:ext cx="288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记忆数据积累越深，迁移成本越高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6669" y="47815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DBay · Memory as a Service for the Agent Era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Memory: From Local Files to Cloud</dc:title>
  <dc:subject>PptxGenJS Presentation</dc:subject>
  <dc:creator>DBay</dc:creator>
  <cp:lastModifiedBy>DBay</cp:lastModifiedBy>
  <cp:revision>1</cp:revision>
  <dcterms:created xsi:type="dcterms:W3CDTF">2026-03-30T01:40:18Z</dcterms:created>
  <dcterms:modified xsi:type="dcterms:W3CDTF">2026-03-30T01:40:18Z</dcterms:modified>
</cp:coreProperties>
</file>